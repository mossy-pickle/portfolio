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  <p:sldMasterId id="214748370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Sora SemiBold"/>
      <p:regular r:id="rId21"/>
      <p:bold r:id="rId22"/>
    </p:embeddedFont>
    <p:embeddedFont>
      <p:font typeface="IBM Plex Sans Medium"/>
      <p:regular r:id="rId23"/>
      <p:bold r:id="rId24"/>
      <p:italic r:id="rId25"/>
      <p:boldItalic r:id="rId26"/>
    </p:embeddedFont>
    <p:embeddedFont>
      <p:font typeface="Sora Light"/>
      <p:regular r:id="rId27"/>
      <p:bold r:id="rId28"/>
    </p:embeddedFont>
    <p:embeddedFont>
      <p:font typeface="Sora ExtraLight"/>
      <p:regular r:id="rId29"/>
      <p:bold r:id="rId30"/>
    </p:embeddedFont>
    <p:embeddedFont>
      <p:font typeface="Sora"/>
      <p:regular r:id="rId31"/>
      <p:bold r:id="rId32"/>
    </p:embeddedFont>
    <p:embeddedFont>
      <p:font typeface="Sora Medium"/>
      <p:regular r:id="rId33"/>
      <p:bold r:id="rId34"/>
    </p:embeddedFont>
    <p:embeddedFont>
      <p:font typeface="IBM Plex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D550C6-D159-4A46-8CF7-A04C21886F59}">
  <a:tblStyle styleId="{D7D550C6-D159-4A46-8CF7-A04C21886F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ra-regular.fntdata"/><Relationship Id="rId30" Type="http://schemas.openxmlformats.org/officeDocument/2006/relationships/font" Target="fonts/SoraExtraLight-bold.fntdata"/><Relationship Id="rId33" Type="http://schemas.openxmlformats.org/officeDocument/2006/relationships/font" Target="fonts/SoraMedium-regular.fntdata"/><Relationship Id="rId32" Type="http://schemas.openxmlformats.org/officeDocument/2006/relationships/font" Target="fonts/Sora-bold.fntdata"/><Relationship Id="rId35" Type="http://schemas.openxmlformats.org/officeDocument/2006/relationships/font" Target="fonts/IBMPlexSansSemiBold-regular.fntdata"/><Relationship Id="rId34" Type="http://schemas.openxmlformats.org/officeDocument/2006/relationships/font" Target="fonts/SoraMedium-bold.fntdata"/><Relationship Id="rId37" Type="http://schemas.openxmlformats.org/officeDocument/2006/relationships/font" Target="fonts/IBMPlexSansSemiBold-italic.fntdata"/><Relationship Id="rId36" Type="http://schemas.openxmlformats.org/officeDocument/2006/relationships/font" Target="fonts/IBMPlexSansSemiBold-bold.fntdata"/><Relationship Id="rId38" Type="http://schemas.openxmlformats.org/officeDocument/2006/relationships/font" Target="fonts/IBMPlexSansSemiBold-boldItalic.fntdata"/><Relationship Id="rId20" Type="http://schemas.openxmlformats.org/officeDocument/2006/relationships/font" Target="fonts/IBMPlexSans-boldItalic.fntdata"/><Relationship Id="rId22" Type="http://schemas.openxmlformats.org/officeDocument/2006/relationships/font" Target="fonts/SoraSemiBold-bold.fntdata"/><Relationship Id="rId21" Type="http://schemas.openxmlformats.org/officeDocument/2006/relationships/font" Target="fonts/SoraSemiBold-regular.fntdata"/><Relationship Id="rId24" Type="http://schemas.openxmlformats.org/officeDocument/2006/relationships/font" Target="fonts/IBMPlexSansMedium-bold.fntdata"/><Relationship Id="rId23" Type="http://schemas.openxmlformats.org/officeDocument/2006/relationships/font" Target="fonts/IBMPlexSansMedium-regular.fntdata"/><Relationship Id="rId26" Type="http://schemas.openxmlformats.org/officeDocument/2006/relationships/font" Target="fonts/IBMPlexSansMedium-boldItalic.fntdata"/><Relationship Id="rId25" Type="http://schemas.openxmlformats.org/officeDocument/2006/relationships/font" Target="fonts/IBMPlexSansMedium-italic.fntdata"/><Relationship Id="rId28" Type="http://schemas.openxmlformats.org/officeDocument/2006/relationships/font" Target="fonts/SoraLight-bold.fntdata"/><Relationship Id="rId27" Type="http://schemas.openxmlformats.org/officeDocument/2006/relationships/font" Target="fonts/SoraLight-regular.fntdata"/><Relationship Id="rId29" Type="http://schemas.openxmlformats.org/officeDocument/2006/relationships/font" Target="fonts/SoraExtraLight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9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bc4902c11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bc4902c11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dc1b00c3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dc1b00c3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c1b00c3f5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dc1b00c3f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dc2f8fd55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dc2f8fd55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Spacial-Temporal bottleneck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problem is that ISO-NE demand has a very strong weekly cycle. The demand at 6pm on a Tuesday in December is highly predictable from what demand was at 6pm last Tuesday. That signal exists in the data — it's just that the baseline throws it away for future tokens, forcing the transformer to reconstruct the weekly pattern implicitly from the 168-hour historical sequence. That's a much harder learning problem.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Part 2 fix is to replace the zero-mask with the actual demand from 168 hours prior (the weekly lag):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dc2f8fd553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dc2f8fd553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CNN produces P=25 spatial tokens per hour, just like Part 1. But instead of concatenating them across all hours, Stage 1 runs a 2-layer, 8-head Transformer over just those 25 tokens </a:t>
            </a:r>
            <a:r>
              <a:rPr i="1" lang="en">
                <a:solidFill>
                  <a:schemeClr val="dk1"/>
                </a:solidFill>
              </a:rPr>
              <a:t>independently for each hour</a:t>
            </a:r>
            <a:r>
              <a:rPr lang="en">
                <a:solidFill>
                  <a:schemeClr val="dk1"/>
                </a:solidFill>
              </a:rPr>
              <a:t>. The time dimension is folded into the batch:</a:t>
            </a:r>
            <a:endParaRPr>
              <a:solidFill>
                <a:srgbClr val="EAECF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this Transformer only ever sees the 25 spatial patches from </a:t>
            </a:r>
            <a:r>
              <a:rPr i="1" lang="en">
                <a:solidFill>
                  <a:schemeClr val="dk1"/>
                </a:solidFill>
              </a:rPr>
              <a:t>one hour at a time</a:t>
            </a:r>
            <a:r>
              <a:rPr lang="en">
                <a:solidFill>
                  <a:schemeClr val="dk1"/>
                </a:solidFill>
              </a:rPr>
              <a:t>. Its sole job is: given this hour's weather grid, which cells are important? After attention, the 25 tokens are mean-pooled into a single </a:t>
            </a:r>
            <a:r>
              <a:rPr b="1" lang="en">
                <a:solidFill>
                  <a:schemeClr val="dk1"/>
                </a:solidFill>
              </a:rPr>
              <a:t>weather summary vector</a:t>
            </a:r>
            <a:r>
              <a:rPr lang="en">
                <a:solidFill>
                  <a:schemeClr val="dk1"/>
                </a:solidFill>
              </a:rPr>
              <a:t> per hour — one 128-dim vector capturing the full spatial context of that timestep.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Temporal: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each of the 96 timesteps is represented by a single fused token: the weather summary vector (from Stage 1) added element-wise to the tabular embedding (demand/calendar). A 4-layer, 8-head Transformer then runs over these 96 tokens: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AECF0"/>
                </a:solidFill>
              </a:rPr>
              <a:t>(B, T=96, D=128)</a:t>
            </a:r>
            <a:endParaRPr>
              <a:solidFill>
                <a:srgbClr val="EAEC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Its sole job is: given 96 hours of complete hour-level summaries, how does demand evolve over time? The 24 future timestep outputs go through an MLP head to produce predictions.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dc2f8fd553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dc2f8fd553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dc2f8fd553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dc2f8fd553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dc2a9e63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dc2a9e63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dc2a9e63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dc2a9e63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78420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Multi-Modal Deep Learning for Energy Demand Forecasting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4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923525"/>
            <a:ext cx="5607348" cy="37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4"/>
          <p:cNvSpPr txBox="1"/>
          <p:nvPr>
            <p:ph idx="2" type="title"/>
          </p:nvPr>
        </p:nvSpPr>
        <p:spPr>
          <a:xfrm>
            <a:off x="115025" y="138850"/>
            <a:ext cx="74766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1 - Architecture</a:t>
            </a:r>
            <a:endParaRPr/>
          </a:p>
        </p:txBody>
      </p:sp>
      <p:sp>
        <p:nvSpPr>
          <p:cNvPr id="941" name="Google Shape;941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64"/>
          <p:cNvPicPr preferRelativeResize="0"/>
          <p:nvPr/>
        </p:nvPicPr>
        <p:blipFill rotWithShape="1">
          <a:blip r:embed="rId3">
            <a:alphaModFix/>
          </a:blip>
          <a:srcRect b="2137" l="71590" r="739" t="83821"/>
          <a:stretch/>
        </p:blipFill>
        <p:spPr>
          <a:xfrm>
            <a:off x="6127600" y="941675"/>
            <a:ext cx="2885798" cy="9762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3" name="Google Shape;943;p64"/>
          <p:cNvCxnSpPr>
            <a:endCxn id="942" idx="1"/>
          </p:cNvCxnSpPr>
          <p:nvPr/>
        </p:nvCxnSpPr>
        <p:spPr>
          <a:xfrm flipH="1" rot="10800000">
            <a:off x="5628700" y="1429812"/>
            <a:ext cx="498900" cy="3025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4" name="Google Shape;944;p64"/>
          <p:cNvSpPr txBox="1"/>
          <p:nvPr/>
        </p:nvSpPr>
        <p:spPr>
          <a:xfrm>
            <a:off x="6085350" y="1917950"/>
            <a:ext cx="2970300" cy="24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 Choices for Computational Efficiency </a:t>
            </a:r>
            <a:endParaRPr b="1"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CNN Downsampling 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Shared Weights </a:t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(single CNN encoder across all timesteps)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Small Embedding Dimension </a:t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(D = 32)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Lightweight Transformer Configuration </a:t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(4 layers, 4 heads, d_model = 32)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Minimal Tabular Token Design </a:t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(1 token per timestep, zero-masked future demand)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Efficient Output Slicing </a:t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(select last token per timestep for prediction)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Compact Prediction Head </a:t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(2-layer MLP: 32 → 32 → Z)</a:t>
            </a:r>
            <a:endParaRPr b="1"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5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1 - Results</a:t>
            </a:r>
            <a:endParaRPr/>
          </a:p>
        </p:txBody>
      </p:sp>
      <p:sp>
        <p:nvSpPr>
          <p:cNvPr id="951" name="Google Shape;951;p6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3" name="Google Shape;95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50" y="1299025"/>
            <a:ext cx="5494225" cy="3530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54" name="Google Shape;954;p65"/>
          <p:cNvPicPr preferRelativeResize="0"/>
          <p:nvPr/>
        </p:nvPicPr>
        <p:blipFill rotWithShape="1">
          <a:blip r:embed="rId4">
            <a:alphaModFix/>
          </a:blip>
          <a:srcRect b="0" l="0" r="45013" t="0"/>
          <a:stretch/>
        </p:blipFill>
        <p:spPr>
          <a:xfrm>
            <a:off x="5800975" y="1746338"/>
            <a:ext cx="3002325" cy="2636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6"/>
          <p:cNvSpPr txBox="1"/>
          <p:nvPr>
            <p:ph idx="2" type="title"/>
          </p:nvPr>
        </p:nvSpPr>
        <p:spPr>
          <a:xfrm>
            <a:off x="115025" y="406250"/>
            <a:ext cx="88572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2 - Motivation + Fixes</a:t>
            </a:r>
            <a:endParaRPr/>
          </a:p>
        </p:txBody>
      </p:sp>
      <p:sp>
        <p:nvSpPr>
          <p:cNvPr id="961" name="Google Shape;961;p66"/>
          <p:cNvSpPr txBox="1"/>
          <p:nvPr/>
        </p:nvSpPr>
        <p:spPr>
          <a:xfrm>
            <a:off x="531825" y="160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Spatial-Temporal Bottleneck</a:t>
            </a:r>
            <a:endParaRPr/>
          </a:p>
        </p:txBody>
      </p:sp>
      <p:sp>
        <p:nvSpPr>
          <p:cNvPr id="962" name="Google Shape;962;p66"/>
          <p:cNvSpPr/>
          <p:nvPr/>
        </p:nvSpPr>
        <p:spPr>
          <a:xfrm>
            <a:off x="384012" y="1482273"/>
            <a:ext cx="2680500" cy="3584700"/>
          </a:xfrm>
          <a:prstGeom prst="rect">
            <a:avLst/>
          </a:prstGeom>
          <a:solidFill>
            <a:srgbClr val="E0F4F1"/>
          </a:solidFill>
          <a:ln cap="flat" cmpd="sng" w="93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6"/>
          <p:cNvSpPr/>
          <p:nvPr/>
        </p:nvSpPr>
        <p:spPr>
          <a:xfrm>
            <a:off x="384012" y="1482273"/>
            <a:ext cx="2680500" cy="46800"/>
          </a:xfrm>
          <a:prstGeom prst="rect">
            <a:avLst/>
          </a:prstGeom>
          <a:solidFill>
            <a:srgbClr val="1D9E75"/>
          </a:solidFill>
          <a:ln cap="flat" cmpd="sng" w="93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6"/>
          <p:cNvSpPr/>
          <p:nvPr/>
        </p:nvSpPr>
        <p:spPr>
          <a:xfrm>
            <a:off x="317818" y="1311250"/>
            <a:ext cx="294900" cy="294900"/>
          </a:xfrm>
          <a:prstGeom prst="ellipse">
            <a:avLst/>
          </a:prstGeom>
          <a:solidFill>
            <a:srgbClr val="1D9E75"/>
          </a:solidFill>
          <a:ln cap="flat" cmpd="sng" w="9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317818" y="1311250"/>
            <a:ext cx="294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6"/>
              <a:buFont typeface="Calibri"/>
              <a:buNone/>
            </a:pPr>
            <a:r>
              <a:rPr b="1" i="0" lang="en" sz="80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6"/>
          <p:cNvSpPr/>
          <p:nvPr/>
        </p:nvSpPr>
        <p:spPr>
          <a:xfrm>
            <a:off x="464419" y="1562680"/>
            <a:ext cx="2519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00" lIns="67000" spcFirstLastPara="1" rIns="67000" wrap="square" tIns="3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6"/>
              <a:buFont typeface="Calibri"/>
              <a:buNone/>
            </a:pPr>
            <a:r>
              <a:rPr b="1" i="0" lang="en" sz="1226" u="none" cap="none" strike="noStrike">
                <a:solidFill>
                  <a:srgbClr val="1E29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Spatial-temporal bottleneck</a:t>
            </a:r>
            <a:endParaRPr b="1" i="0" sz="1226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7" name="Google Shape;967;p66"/>
          <p:cNvSpPr/>
          <p:nvPr/>
        </p:nvSpPr>
        <p:spPr>
          <a:xfrm>
            <a:off x="484521" y="1984813"/>
            <a:ext cx="2479200" cy="2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00" lIns="67000" spcFirstLastPara="1" rIns="67000" wrap="square" tIns="335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rPr i="0" lang="en" sz="879" u="none" cap="none" strike="noStrike">
                <a:solidFill>
                  <a:srgbClr val="1E293B"/>
                </a:solidFill>
              </a:rPr>
              <a:t>The flat baseline concatenates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ALL</a:t>
            </a:r>
            <a:r>
              <a:rPr i="0" lang="en" sz="879" u="none" cap="none" strike="noStrike">
                <a:solidFill>
                  <a:srgbClr val="1E293B"/>
                </a:solidFill>
              </a:rPr>
              <a:t> (S+24)×(P+1) ≈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2,496 tokens</a:t>
            </a:r>
            <a:r>
              <a:rPr i="0" lang="en" sz="879" u="none" cap="none" strike="noStrike">
                <a:solidFill>
                  <a:srgbClr val="1E293B"/>
                </a:solidFill>
              </a:rPr>
              <a:t> into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one sequence</a:t>
            </a:r>
            <a:r>
              <a:rPr i="0" lang="en" sz="879" u="none" cap="none" strike="noStrike">
                <a:solidFill>
                  <a:srgbClr val="1E293B"/>
                </a:solidFill>
              </a:rPr>
              <a:t>.</a:t>
            </a:r>
            <a:endParaRPr i="0" sz="879" u="none" cap="none" strike="noStrike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t/>
            </a:r>
            <a:endParaRPr sz="879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rPr i="0" lang="en" sz="879" u="none" cap="none" strike="noStrike">
                <a:solidFill>
                  <a:srgbClr val="1E293B"/>
                </a:solidFill>
              </a:rPr>
              <a:t> A single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4-head D=32 Transformer</a:t>
            </a:r>
            <a:r>
              <a:rPr i="0" lang="en" sz="879" u="none" cap="none" strike="noStrike">
                <a:solidFill>
                  <a:srgbClr val="1E293B"/>
                </a:solidFill>
              </a:rPr>
              <a:t> must simultaneously parse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weather patterns</a:t>
            </a:r>
            <a:r>
              <a:rPr i="0" lang="en" sz="879" u="none" cap="none" strike="noStrike">
                <a:solidFill>
                  <a:srgbClr val="1E293B"/>
                </a:solidFill>
              </a:rPr>
              <a:t> within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each hour</a:t>
            </a:r>
            <a:r>
              <a:rPr i="0" lang="en" sz="879" u="none" cap="none" strike="noStrike">
                <a:solidFill>
                  <a:srgbClr val="1E293B"/>
                </a:solidFill>
              </a:rPr>
              <a:t> AND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demand dynamics across time</a:t>
            </a:r>
            <a:r>
              <a:rPr i="0" lang="en" sz="879" u="none" cap="none" strike="noStrike">
                <a:solidFill>
                  <a:srgbClr val="1E293B"/>
                </a:solidFill>
              </a:rPr>
              <a:t> </a:t>
            </a:r>
            <a:endParaRPr sz="879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t/>
            </a:r>
            <a:endParaRPr sz="879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rPr lang="en" sz="879">
                <a:solidFill>
                  <a:srgbClr val="1E293B"/>
                </a:solidFill>
              </a:rPr>
              <a:t>These </a:t>
            </a:r>
            <a:r>
              <a:rPr i="0" lang="en" sz="879" u="none" cap="none" strike="noStrike">
                <a:solidFill>
                  <a:srgbClr val="1E293B"/>
                </a:solidFill>
              </a:rPr>
              <a:t>two structurally different tasks are competing for the same limited capacity.</a:t>
            </a:r>
            <a:endParaRPr i="0" sz="879" u="none" cap="none" strike="noStrike">
              <a:solidFill>
                <a:srgbClr val="000000"/>
              </a:solidFill>
            </a:endParaRPr>
          </a:p>
        </p:txBody>
      </p:sp>
      <p:sp>
        <p:nvSpPr>
          <p:cNvPr id="968" name="Google Shape;968;p66"/>
          <p:cNvSpPr/>
          <p:nvPr/>
        </p:nvSpPr>
        <p:spPr>
          <a:xfrm>
            <a:off x="484521" y="4584617"/>
            <a:ext cx="2479200" cy="348600"/>
          </a:xfrm>
          <a:prstGeom prst="rect">
            <a:avLst/>
          </a:prstGeom>
          <a:solidFill>
            <a:srgbClr val="1D9E75"/>
          </a:solidFill>
          <a:ln cap="flat" cmpd="sng" w="93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6"/>
          <p:cNvSpPr/>
          <p:nvPr/>
        </p:nvSpPr>
        <p:spPr>
          <a:xfrm>
            <a:off x="484521" y="4584617"/>
            <a:ext cx="2479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00" lIns="67000" spcFirstLastPara="1" rIns="67000" wrap="square" tIns="3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6"/>
              <a:buFont typeface="Calibri"/>
              <a:buNone/>
            </a:pPr>
            <a:r>
              <a:rPr b="1" i="0" lang="en" sz="806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Fix: factorize into two dedicated stages</a:t>
            </a:r>
            <a:endParaRPr i="0" sz="806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70" name="Google Shape;970;p66"/>
          <p:cNvSpPr/>
          <p:nvPr/>
        </p:nvSpPr>
        <p:spPr>
          <a:xfrm>
            <a:off x="3231755" y="1482273"/>
            <a:ext cx="2680500" cy="3584700"/>
          </a:xfrm>
          <a:prstGeom prst="rect">
            <a:avLst/>
          </a:prstGeom>
          <a:solidFill>
            <a:srgbClr val="EEEDFE"/>
          </a:solidFill>
          <a:ln cap="flat" cmpd="sng" w="93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6"/>
          <p:cNvSpPr/>
          <p:nvPr/>
        </p:nvSpPr>
        <p:spPr>
          <a:xfrm>
            <a:off x="3231755" y="1482273"/>
            <a:ext cx="2680500" cy="46800"/>
          </a:xfrm>
          <a:prstGeom prst="rect">
            <a:avLst/>
          </a:prstGeom>
          <a:solidFill>
            <a:srgbClr val="3C3489"/>
          </a:solidFill>
          <a:ln cap="flat" cmpd="sng" w="93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6"/>
          <p:cNvSpPr/>
          <p:nvPr/>
        </p:nvSpPr>
        <p:spPr>
          <a:xfrm>
            <a:off x="3154661" y="1311250"/>
            <a:ext cx="294900" cy="294900"/>
          </a:xfrm>
          <a:prstGeom prst="ellipse">
            <a:avLst/>
          </a:prstGeom>
          <a:solidFill>
            <a:srgbClr val="3C3489"/>
          </a:solidFill>
          <a:ln cap="flat" cmpd="sng" w="9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6"/>
          <p:cNvSpPr/>
          <p:nvPr/>
        </p:nvSpPr>
        <p:spPr>
          <a:xfrm>
            <a:off x="3154661" y="1311250"/>
            <a:ext cx="294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6"/>
              <a:buFont typeface="Calibri"/>
              <a:buNone/>
            </a:pPr>
            <a:r>
              <a:rPr b="1" i="0" lang="en" sz="80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6"/>
          <p:cNvSpPr/>
          <p:nvPr/>
        </p:nvSpPr>
        <p:spPr>
          <a:xfrm>
            <a:off x="3312162" y="1562680"/>
            <a:ext cx="2519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00" lIns="67000" spcFirstLastPara="1" rIns="67000" wrap="square" tIns="3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6"/>
              <a:buFont typeface="Calibri"/>
              <a:buNone/>
            </a:pPr>
            <a:r>
              <a:rPr b="1" i="0" lang="en" sz="1226" u="none" cap="none" strike="noStrike">
                <a:solidFill>
                  <a:srgbClr val="1E293B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future demand prior</a:t>
            </a:r>
            <a:endParaRPr b="1" i="0" sz="1226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75" name="Google Shape;975;p66"/>
          <p:cNvSpPr/>
          <p:nvPr/>
        </p:nvSpPr>
        <p:spPr>
          <a:xfrm>
            <a:off x="3332264" y="1984813"/>
            <a:ext cx="2479200" cy="2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00" lIns="67000" spcFirstLastPara="1" rIns="67000" wrap="square" tIns="335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79" u="none" cap="none" strike="noStrike">
                <a:solidFill>
                  <a:srgbClr val="1E293B"/>
                </a:solidFill>
              </a:rPr>
              <a:t>Future tabular tokens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zero-mask</a:t>
            </a:r>
            <a:r>
              <a:rPr i="0" lang="en" sz="879" u="none" cap="none" strike="noStrike">
                <a:solidFill>
                  <a:srgbClr val="1E293B"/>
                </a:solidFill>
              </a:rPr>
              <a:t> the demand dimension entirely.</a:t>
            </a:r>
            <a:endParaRPr i="0" sz="879" u="none" cap="none" strike="noStrike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9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79" u="none" cap="none" strike="noStrike">
                <a:solidFill>
                  <a:srgbClr val="1E293B"/>
                </a:solidFill>
              </a:rPr>
              <a:t>ISO-NE demand has a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strong weekly cycle</a:t>
            </a:r>
            <a:r>
              <a:rPr lang="en" sz="879">
                <a:solidFill>
                  <a:srgbClr val="1E293B"/>
                </a:solidFill>
              </a:rPr>
              <a:t>:</a:t>
            </a:r>
            <a:r>
              <a:rPr i="0" lang="en" sz="879" u="none" cap="none" strike="noStrike">
                <a:solidFill>
                  <a:srgbClr val="1E293B"/>
                </a:solidFill>
              </a:rPr>
              <a:t> a Tuesday afternoon in December is highly predictable from the same hour one week prior. </a:t>
            </a:r>
            <a:endParaRPr i="0" sz="879" u="none" cap="none" strike="noStrike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9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79" u="none" cap="none" strike="noStrike">
                <a:solidFill>
                  <a:srgbClr val="1E293B"/>
                </a:solidFill>
              </a:rPr>
              <a:t>The baseline discards this signal, </a:t>
            </a:r>
            <a:r>
              <a:rPr b="1" i="0" lang="en" sz="879" u="none" cap="none" strike="noStrike">
                <a:solidFill>
                  <a:srgbClr val="1E293B"/>
                </a:solidFill>
              </a:rPr>
              <a:t>forcing the model to reconstruct</a:t>
            </a:r>
            <a:r>
              <a:rPr i="0" lang="en" sz="879" u="none" cap="none" strike="noStrike">
                <a:solidFill>
                  <a:srgbClr val="1E293B"/>
                </a:solidFill>
              </a:rPr>
              <a:t> it from 168 hours of history.</a:t>
            </a:r>
            <a:endParaRPr i="0" sz="879" u="none" cap="none" strike="noStrike">
              <a:solidFill>
                <a:srgbClr val="000000"/>
              </a:solidFill>
            </a:endParaRPr>
          </a:p>
        </p:txBody>
      </p:sp>
      <p:sp>
        <p:nvSpPr>
          <p:cNvPr id="976" name="Google Shape;976;p66"/>
          <p:cNvSpPr/>
          <p:nvPr/>
        </p:nvSpPr>
        <p:spPr>
          <a:xfrm>
            <a:off x="3332264" y="4584617"/>
            <a:ext cx="2479200" cy="348600"/>
          </a:xfrm>
          <a:prstGeom prst="rect">
            <a:avLst/>
          </a:prstGeom>
          <a:solidFill>
            <a:srgbClr val="3C3489"/>
          </a:solidFill>
          <a:ln cap="flat" cmpd="sng" w="93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6"/>
          <p:cNvSpPr/>
          <p:nvPr/>
        </p:nvSpPr>
        <p:spPr>
          <a:xfrm>
            <a:off x="3332264" y="4584617"/>
            <a:ext cx="2479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00" lIns="67000" spcFirstLastPara="1" rIns="67000" wrap="square" tIns="3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6"/>
              <a:buFont typeface="Calibri"/>
              <a:buNone/>
            </a:pPr>
            <a:r>
              <a:rPr b="1" i="0" lang="en" sz="806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Fix: add 168-hour weekly lag as direct input</a:t>
            </a:r>
            <a:endParaRPr i="0" sz="806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78" name="Google Shape;978;p66"/>
          <p:cNvSpPr/>
          <p:nvPr/>
        </p:nvSpPr>
        <p:spPr>
          <a:xfrm>
            <a:off x="6079498" y="1482273"/>
            <a:ext cx="2680500" cy="3584700"/>
          </a:xfrm>
          <a:prstGeom prst="rect">
            <a:avLst/>
          </a:prstGeom>
          <a:solidFill>
            <a:srgbClr val="FAEEDA"/>
          </a:solidFill>
          <a:ln cap="flat" cmpd="sng" w="93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6"/>
          <p:cNvSpPr/>
          <p:nvPr/>
        </p:nvSpPr>
        <p:spPr>
          <a:xfrm>
            <a:off x="6079498" y="1482273"/>
            <a:ext cx="2680500" cy="46800"/>
          </a:xfrm>
          <a:prstGeom prst="rect">
            <a:avLst/>
          </a:prstGeom>
          <a:solidFill>
            <a:srgbClr val="854F0B"/>
          </a:solidFill>
          <a:ln cap="flat" cmpd="sng" w="93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6"/>
          <p:cNvSpPr/>
          <p:nvPr/>
        </p:nvSpPr>
        <p:spPr>
          <a:xfrm>
            <a:off x="5991479" y="1311250"/>
            <a:ext cx="294900" cy="294900"/>
          </a:xfrm>
          <a:prstGeom prst="ellipse">
            <a:avLst/>
          </a:prstGeom>
          <a:solidFill>
            <a:srgbClr val="854F0B"/>
          </a:solidFill>
          <a:ln cap="flat" cmpd="sng" w="9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6"/>
          <p:cNvSpPr/>
          <p:nvPr/>
        </p:nvSpPr>
        <p:spPr>
          <a:xfrm>
            <a:off x="5991479" y="1311250"/>
            <a:ext cx="2949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6"/>
              <a:buFont typeface="Calibri"/>
              <a:buNone/>
            </a:pPr>
            <a:r>
              <a:rPr b="1" i="0" lang="en" sz="80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6"/>
          <p:cNvSpPr/>
          <p:nvPr/>
        </p:nvSpPr>
        <p:spPr>
          <a:xfrm>
            <a:off x="6159905" y="1562680"/>
            <a:ext cx="2519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00" lIns="67000" spcFirstLastPara="1" rIns="67000" wrap="square" tIns="3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26"/>
              <a:buFont typeface="Calibri"/>
              <a:buNone/>
            </a:pPr>
            <a:r>
              <a:rPr b="1" i="0" lang="en" sz="1226" cap="none" strike="noStrike">
                <a:solidFill>
                  <a:srgbClr val="1E293B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 capacity &amp; training data</a:t>
            </a:r>
            <a:endParaRPr b="1" i="0" sz="1226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3" name="Google Shape;983;p66"/>
          <p:cNvSpPr/>
          <p:nvPr/>
        </p:nvSpPr>
        <p:spPr>
          <a:xfrm>
            <a:off x="6180007" y="1984813"/>
            <a:ext cx="2479200" cy="2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00" lIns="67000" spcFirstLastPara="1" rIns="67000" wrap="square" tIns="335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rPr b="1" i="0" lang="en" sz="879" u="none" cap="none" strike="noStrike">
                <a:solidFill>
                  <a:srgbClr val="1E293B"/>
                </a:solidFill>
              </a:rPr>
              <a:t>D=32, 4 layers, 3,000 training samples, 20 epochs</a:t>
            </a:r>
            <a:r>
              <a:rPr lang="en" sz="879">
                <a:solidFill>
                  <a:srgbClr val="1E293B"/>
                </a:solidFill>
              </a:rPr>
              <a:t> represents</a:t>
            </a:r>
            <a:r>
              <a:rPr i="0" lang="en" sz="879" u="none" cap="none" strike="noStrike">
                <a:solidFill>
                  <a:srgbClr val="1E293B"/>
                </a:solidFill>
              </a:rPr>
              <a:t> a small fraction of available capacity and the four-year dataset.</a:t>
            </a:r>
            <a:endParaRPr i="0" sz="879" u="none" cap="none" strike="noStrike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t/>
            </a:r>
            <a:endParaRPr sz="879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79"/>
              <a:buFont typeface="Calibri"/>
              <a:buNone/>
            </a:pPr>
            <a:r>
              <a:rPr i="0" lang="en" sz="879" u="none" cap="none" strike="noStrike">
                <a:solidFill>
                  <a:srgbClr val="1E293B"/>
                </a:solidFill>
              </a:rPr>
              <a:t>The model was underfitting the multi-year seasonal and geographic patterns visible across all 8 ISO-NE zones.</a:t>
            </a:r>
            <a:endParaRPr i="0" sz="879" u="none" cap="none" strike="noStrike">
              <a:solidFill>
                <a:srgbClr val="000000"/>
              </a:solidFill>
            </a:endParaRPr>
          </a:p>
        </p:txBody>
      </p:sp>
      <p:sp>
        <p:nvSpPr>
          <p:cNvPr id="984" name="Google Shape;984;p66"/>
          <p:cNvSpPr/>
          <p:nvPr/>
        </p:nvSpPr>
        <p:spPr>
          <a:xfrm>
            <a:off x="6180007" y="4584617"/>
            <a:ext cx="2479200" cy="348600"/>
          </a:xfrm>
          <a:prstGeom prst="rect">
            <a:avLst/>
          </a:prstGeom>
          <a:solidFill>
            <a:srgbClr val="854F0B"/>
          </a:solidFill>
          <a:ln cap="flat" cmpd="sng" w="93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6"/>
          <p:cNvSpPr/>
          <p:nvPr/>
        </p:nvSpPr>
        <p:spPr>
          <a:xfrm>
            <a:off x="6180007" y="4584617"/>
            <a:ext cx="2479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00" lIns="67000" spcFirstLastPara="1" rIns="67000" wrap="square" tIns="3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6"/>
              <a:buFont typeface="Calibri"/>
              <a:buNone/>
            </a:pPr>
            <a:r>
              <a:rPr b="1" i="0" lang="en" sz="806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Fix: scale to D=128, 34,873 samples, 50 epochs</a:t>
            </a:r>
            <a:endParaRPr b="1" i="0" sz="806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7"/>
          <p:cNvSpPr/>
          <p:nvPr/>
        </p:nvSpPr>
        <p:spPr>
          <a:xfrm>
            <a:off x="4997800" y="1471650"/>
            <a:ext cx="3722700" cy="2870400"/>
          </a:xfrm>
          <a:prstGeom prst="roundRect">
            <a:avLst>
              <a:gd fmla="val 16667" name="adj"/>
            </a:avLst>
          </a:prstGeom>
          <a:solidFill>
            <a:srgbClr val="F7E5E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1" name="Google Shape;991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7"/>
          <p:cNvSpPr txBox="1"/>
          <p:nvPr>
            <p:ph idx="2" type="title"/>
          </p:nvPr>
        </p:nvSpPr>
        <p:spPr>
          <a:xfrm>
            <a:off x="115025" y="406250"/>
            <a:ext cx="75273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2 - </a:t>
            </a:r>
            <a:r>
              <a:rPr lang="en"/>
              <a:t>Architecture </a:t>
            </a:r>
            <a:endParaRPr/>
          </a:p>
        </p:txBody>
      </p:sp>
      <p:sp>
        <p:nvSpPr>
          <p:cNvPr id="993" name="Google Shape;993;p67"/>
          <p:cNvSpPr/>
          <p:nvPr/>
        </p:nvSpPr>
        <p:spPr>
          <a:xfrm>
            <a:off x="5250150" y="1801500"/>
            <a:ext cx="3105300" cy="671100"/>
          </a:xfrm>
          <a:prstGeom prst="rect">
            <a:avLst/>
          </a:prstGeom>
          <a:solidFill>
            <a:srgbClr val="E0F4F1"/>
          </a:solidFill>
          <a:ln cap="flat" cmpd="sng" w="1332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7"/>
          <p:cNvSpPr/>
          <p:nvPr/>
        </p:nvSpPr>
        <p:spPr>
          <a:xfrm>
            <a:off x="5281011" y="1839856"/>
            <a:ext cx="3043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9"/>
              <a:buFont typeface="Calibri"/>
              <a:buNone/>
            </a:pPr>
            <a:r>
              <a:rPr b="1" i="0" lang="en" sz="909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Stage 1 — Spatial Transformer (per timestep)</a:t>
            </a:r>
            <a:endParaRPr b="0" i="0" sz="9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67"/>
          <p:cNvSpPr/>
          <p:nvPr/>
        </p:nvSpPr>
        <p:spPr>
          <a:xfrm>
            <a:off x="5281011" y="2069992"/>
            <a:ext cx="3043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34"/>
              <a:buFont typeface="Calibri"/>
              <a:buNone/>
            </a:pPr>
            <a:r>
              <a:rPr b="0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2-layer </a:t>
            </a:r>
            <a:r>
              <a:rPr b="1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TransformerEncoder</a:t>
            </a:r>
            <a:r>
              <a:rPr b="0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· 8 heads · D=128 · pre-LN · GELU · dropout 0.35</a:t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34"/>
              <a:buFont typeface="Calibri"/>
              <a:buNone/>
            </a:pPr>
            <a:r>
              <a:rPr b="0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Shape: (B×T, P=25, 128) — time dim folded into batch · mean-pool → 1 weather summary vector/timestep → (B, T=96, 128)</a:t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6" name="Google Shape;996;p67"/>
          <p:cNvCxnSpPr/>
          <p:nvPr/>
        </p:nvCxnSpPr>
        <p:spPr>
          <a:xfrm>
            <a:off x="6802903" y="2495084"/>
            <a:ext cx="0" cy="115200"/>
          </a:xfrm>
          <a:prstGeom prst="straightConnector1">
            <a:avLst/>
          </a:prstGeom>
          <a:noFill/>
          <a:ln cap="flat" cmpd="sng" w="13325">
            <a:solidFill>
              <a:srgbClr val="1D9E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7" name="Google Shape;997;p67"/>
          <p:cNvSpPr/>
          <p:nvPr/>
        </p:nvSpPr>
        <p:spPr>
          <a:xfrm>
            <a:off x="5597335" y="2587799"/>
            <a:ext cx="2411100" cy="319500"/>
          </a:xfrm>
          <a:prstGeom prst="rect">
            <a:avLst/>
          </a:prstGeom>
          <a:solidFill>
            <a:srgbClr val="FAEEDA"/>
          </a:solidFill>
          <a:ln cap="flat" cmpd="sng" w="71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7"/>
          <p:cNvSpPr/>
          <p:nvPr/>
        </p:nvSpPr>
        <p:spPr>
          <a:xfrm>
            <a:off x="5597335" y="2587799"/>
            <a:ext cx="24111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69"/>
              <a:buFont typeface="Calibri"/>
              <a:buNone/>
            </a:pPr>
            <a:r>
              <a:rPr b="0" i="0" lang="en" sz="769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Element-wise add: weather summary + tabular embed + timestep pos. embedding → (B, T=96, D=128)</a:t>
            </a:r>
            <a:endParaRPr b="0" i="0" sz="7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9" name="Google Shape;999;p67"/>
          <p:cNvCxnSpPr/>
          <p:nvPr/>
        </p:nvCxnSpPr>
        <p:spPr>
          <a:xfrm>
            <a:off x="6802903" y="2926487"/>
            <a:ext cx="0" cy="115200"/>
          </a:xfrm>
          <a:prstGeom prst="straightConnector1">
            <a:avLst/>
          </a:prstGeom>
          <a:noFill/>
          <a:ln cap="flat" cmpd="sng" w="13325">
            <a:solidFill>
              <a:srgbClr val="3C348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0" name="Google Shape;1000;p67"/>
          <p:cNvSpPr/>
          <p:nvPr/>
        </p:nvSpPr>
        <p:spPr>
          <a:xfrm>
            <a:off x="5250150" y="3022501"/>
            <a:ext cx="3105300" cy="607500"/>
          </a:xfrm>
          <a:prstGeom prst="rect">
            <a:avLst/>
          </a:prstGeom>
          <a:solidFill>
            <a:srgbClr val="EEEDFE"/>
          </a:solidFill>
          <a:ln cap="flat" cmpd="sng" w="13325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7"/>
          <p:cNvSpPr/>
          <p:nvPr/>
        </p:nvSpPr>
        <p:spPr>
          <a:xfrm>
            <a:off x="5281011" y="3060857"/>
            <a:ext cx="3043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909"/>
              <a:buFont typeface="Calibri"/>
              <a:buNone/>
            </a:pPr>
            <a:r>
              <a:rPr b="1" i="0" lang="en" sz="909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Stage 2 — Temporal Transformer</a:t>
            </a:r>
            <a:endParaRPr b="0" i="0" sz="9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7"/>
          <p:cNvSpPr/>
          <p:nvPr/>
        </p:nvSpPr>
        <p:spPr>
          <a:xfrm>
            <a:off x="5281011" y="3278208"/>
            <a:ext cx="3043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34"/>
              <a:buFont typeface="Calibri"/>
              <a:buNone/>
            </a:pPr>
            <a:r>
              <a:rPr b="0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4-layer </a:t>
            </a:r>
            <a:r>
              <a:rPr b="1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TransformerEncoder</a:t>
            </a:r>
            <a:r>
              <a:rPr b="0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· 8 heads · D=128 · pre-LN · GELU · dropout 0.35</a:t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34"/>
              <a:buFont typeface="Calibri"/>
              <a:buNone/>
            </a:pPr>
            <a:r>
              <a:rPr b="0" i="0" lang="en" sz="734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Shape: (B, T=96, 128) — one complete hour-level token per timestep</a:t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3" name="Google Shape;1003;p67"/>
          <p:cNvPicPr preferRelativeResize="0"/>
          <p:nvPr/>
        </p:nvPicPr>
        <p:blipFill rotWithShape="1">
          <a:blip r:embed="rId3">
            <a:alphaModFix/>
          </a:blip>
          <a:srcRect b="25579" l="0" r="28750" t="8427"/>
          <a:stretch/>
        </p:blipFill>
        <p:spPr>
          <a:xfrm>
            <a:off x="115023" y="1521212"/>
            <a:ext cx="4738502" cy="29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67"/>
          <p:cNvSpPr/>
          <p:nvPr/>
        </p:nvSpPr>
        <p:spPr>
          <a:xfrm>
            <a:off x="4895725" y="1341500"/>
            <a:ext cx="502800" cy="428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C3489"/>
                </a:solidFill>
                <a:latin typeface="Sora"/>
                <a:ea typeface="Sora"/>
                <a:cs typeface="Sora"/>
                <a:sym typeface="Sora"/>
              </a:rPr>
              <a:t>5</a:t>
            </a:r>
            <a:endParaRPr>
              <a:solidFill>
                <a:srgbClr val="3C3489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10" name="Google Shape;1010;p68"/>
          <p:cNvGraphicFramePr/>
          <p:nvPr/>
        </p:nvGraphicFramePr>
        <p:xfrm>
          <a:off x="829025" y="16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{D7D550C6-D159-4A46-8CF7-A04C21886F59}</a:tableStyleId>
              </a:tblPr>
              <a:tblGrid>
                <a:gridCol w="2691600"/>
                <a:gridCol w="2143450"/>
                <a:gridCol w="2650900"/>
              </a:tblGrid>
              <a:tr h="296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Setting</a:t>
                      </a:r>
                      <a:endParaRPr b="1" sz="9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Part 1 Baseline</a:t>
                      </a:r>
                      <a:endParaRPr b="1" sz="9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Part 2 Hierarchical</a:t>
                      </a:r>
                      <a:endParaRPr b="1" sz="9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Embedding dim D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32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128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Transformer layers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 (single flat stage)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 spatial + 4 temporal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Attention heads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Dropout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0.35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Trainable parameters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1,273,608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Historical lookback 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72 h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Spatial grid G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5×5 (P = 25)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66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Optimizer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Adam, lr=1e-4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AdamW, lr=3e-4, wd=0.05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3866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LR schedule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None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Cosine annealing to 1e-5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Loss function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MSE (normalized)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MAE (MW)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Batch size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Epochs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Training samples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3,000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34,873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66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Training years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2019, 2020, 2021, 2023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39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Validation year</a:t>
                      </a:r>
                      <a:endParaRPr b="1"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2022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2022</a:t>
                      </a:r>
                      <a:endParaRPr sz="900">
                        <a:solidFill>
                          <a:srgbClr val="1A1A1A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9"/>
          <p:cNvSpPr txBox="1"/>
          <p:nvPr>
            <p:ph idx="2" type="title"/>
          </p:nvPr>
        </p:nvSpPr>
        <p:spPr>
          <a:xfrm>
            <a:off x="115025" y="406250"/>
            <a:ext cx="29484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2 - Results</a:t>
            </a:r>
            <a:endParaRPr/>
          </a:p>
        </p:txBody>
      </p:sp>
      <p:pic>
        <p:nvPicPr>
          <p:cNvPr id="1017" name="Google Shape;1017;p69" title="train_611023_loss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998" y="228600"/>
            <a:ext cx="6202429" cy="2068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8" name="Google Shape;1018;p69"/>
          <p:cNvGraphicFramePr/>
          <p:nvPr/>
        </p:nvGraphicFramePr>
        <p:xfrm>
          <a:off x="3220050" y="234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{D7D550C6-D159-4A46-8CF7-A04C21886F59}</a:tableStyleId>
              </a:tblPr>
              <a:tblGrid>
                <a:gridCol w="1494550"/>
                <a:gridCol w="1138700"/>
                <a:gridCol w="1361100"/>
                <a:gridCol w="1547950"/>
              </a:tblGrid>
              <a:tr h="194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Zone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Part 1 MAPE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Part 2 MAPE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3E50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ME (Maine)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10.97 %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2.79 %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−8.18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NH (New Hampshire)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12.38 %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1.86 %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−10.52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VT (Vermont)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11.80 %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3.26 %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−8.54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CT (Connecticut)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10.42 %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1.97 %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−8.45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RI (Rhode Island)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13.53 %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2.24 %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−11.29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SEMA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16.81 %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2.39 %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−14.42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WCMA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10.71 %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1.60 %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−9.11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NEMA_BOST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13.10 %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5C99"/>
                          </a:solidFill>
                        </a:rPr>
                        <a:t>1.47 %</a:t>
                      </a:r>
                      <a:endParaRPr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−11.63 pp</a:t>
                      </a:r>
                      <a:endParaRPr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9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Overall</a:t>
                      </a:r>
                      <a:endParaRPr b="1"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12.47 %</a:t>
                      </a:r>
                      <a:endParaRPr b="1"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F5C99"/>
                          </a:solidFill>
                        </a:rPr>
                        <a:t>2.20 %</a:t>
                      </a:r>
                      <a:endParaRPr b="1" sz="900">
                        <a:solidFill>
                          <a:srgbClr val="1F5C99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−10.27 pp</a:t>
                      </a:r>
                      <a:endParaRPr b="1" sz="900">
                        <a:solidFill>
                          <a:srgbClr val="1A1A1A"/>
                        </a:solidFill>
                      </a:endParaRPr>
                    </a:p>
                  </a:txBody>
                  <a:tcPr marT="50800" marB="50800" marR="76200" marL="762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019" name="Google Shape;1019;p69"/>
          <p:cNvSpPr txBox="1"/>
          <p:nvPr>
            <p:ph idx="1" type="subTitle"/>
          </p:nvPr>
        </p:nvSpPr>
        <p:spPr>
          <a:xfrm>
            <a:off x="194825" y="2341150"/>
            <a:ext cx="2788800" cy="18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year </a:t>
            </a:r>
            <a:r>
              <a:rPr b="1" lang="en"/>
              <a:t>2022 </a:t>
            </a:r>
            <a:r>
              <a:rPr lang="en"/>
              <a:t>– best val MAE</a:t>
            </a:r>
            <a:r>
              <a:rPr b="1" lang="en"/>
              <a:t> 41.94 MW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/>
              <a:t>Takeaways:</a:t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Factorized attention removes the bottleneck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lag anchors the forecast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Scale: model + data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MAE loss + cosine annealing</a:t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70"/>
          <p:cNvSpPr txBox="1"/>
          <p:nvPr>
            <p:ph idx="2" type="title"/>
          </p:nvPr>
        </p:nvSpPr>
        <p:spPr>
          <a:xfrm>
            <a:off x="115025" y="406250"/>
            <a:ext cx="8146800" cy="987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Part 3</a:t>
            </a:r>
            <a:r>
              <a:rPr lang="en" sz="3600"/>
              <a:t> - </a:t>
            </a:r>
            <a:r>
              <a:rPr lang="en" sz="3200"/>
              <a:t>Does weather actually matter?</a:t>
            </a:r>
            <a:endParaRPr sz="3200"/>
          </a:p>
        </p:txBody>
      </p:sp>
      <p:sp>
        <p:nvSpPr>
          <p:cNvPr id="1026" name="Google Shape;1026;p70"/>
          <p:cNvSpPr txBox="1"/>
          <p:nvPr>
            <p:ph idx="1" type="subTitle"/>
          </p:nvPr>
        </p:nvSpPr>
        <p:spPr>
          <a:xfrm>
            <a:off x="168750" y="1719300"/>
            <a:ext cx="4059900" cy="20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Hypothesis: the 168-hour weekly lag is doing all the work and weather is noise.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Test: replace real weather inputs with seasonal climatology (per month/day/hour mean) and re-evaluate the same model.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Result: MAPE jumped from 2.70% → 6.98% (+4.28 pp). Effect was strongest at long horizons (t+24: +4.90 pp) and on cold days (+4.67 pp).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Hypothesis rejected — the model is genuinely multi-modal. </a:t>
            </a:r>
            <a:endParaRPr/>
          </a:p>
        </p:txBody>
      </p:sp>
      <p:sp>
        <p:nvSpPr>
          <p:cNvPr id="1027" name="Google Shape;1027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8" name="Google Shape;1028;p70" title="Screenshot 2026-05-04 at 10.59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400" y="1239175"/>
            <a:ext cx="4340694" cy="344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71"/>
          <p:cNvSpPr txBox="1"/>
          <p:nvPr>
            <p:ph idx="2" type="title"/>
          </p:nvPr>
        </p:nvSpPr>
        <p:spPr>
          <a:xfrm>
            <a:off x="115025" y="406250"/>
            <a:ext cx="88005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Fixing the worst remaining failure</a:t>
            </a:r>
            <a:endParaRPr sz="4100"/>
          </a:p>
        </p:txBody>
      </p:sp>
      <p:sp>
        <p:nvSpPr>
          <p:cNvPr id="1035" name="Google Shape;1035;p71"/>
          <p:cNvSpPr txBox="1"/>
          <p:nvPr>
            <p:ph idx="1" type="subTitle"/>
          </p:nvPr>
        </p:nvSpPr>
        <p:spPr>
          <a:xfrm>
            <a:off x="115025" y="218977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Diagnosis: highest-error days clustered around holidays. The 168-hour weekly lag misaligns on the Tuesday after Memorial Day — it doesn't reflect that yesterday was a holiday.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Fix: add a 24-hour lag (yesterday-at-this-hour). Always carries the previous day's pattern, holiday or not.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Cost: +1,024 parameters (0.06% of model), same training schedule.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Result: 2.70% → 2.61% MAPE, 6 of 8 zones improved.</a:t>
            </a:r>
            <a:endParaRPr/>
          </a:p>
        </p:txBody>
      </p:sp>
      <p:sp>
        <p:nvSpPr>
          <p:cNvPr id="1036" name="Google Shape;1036;p7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7" name="Google Shape;1037;p71" title="Screenshot 2026-05-04 at 10.59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1350202"/>
            <a:ext cx="3921649" cy="30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