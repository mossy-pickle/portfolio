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IBM Plex Sans"/>
      <p:regular r:id="rId29"/>
      <p:bold r:id="rId30"/>
      <p:italic r:id="rId31"/>
      <p:boldItalic r:id="rId32"/>
    </p:embeddedFont>
    <p:embeddedFont>
      <p:font typeface="Sora SemiBold"/>
      <p:regular r:id="rId33"/>
      <p:bold r:id="rId34"/>
    </p:embeddedFont>
    <p:embeddedFont>
      <p:font typeface="IBM Plex Sans Medium"/>
      <p:regular r:id="rId35"/>
      <p:bold r:id="rId36"/>
      <p:italic r:id="rId37"/>
      <p:boldItalic r:id="rId38"/>
    </p:embeddedFont>
    <p:embeddedFont>
      <p:font typeface="Sora Light"/>
      <p:regular r:id="rId39"/>
      <p:bold r:id="rId40"/>
    </p:embeddedFont>
    <p:embeddedFont>
      <p:font typeface="Sora ExtraLight"/>
      <p:regular r:id="rId41"/>
      <p:bold r:id="rId42"/>
    </p:embeddedFont>
    <p:embeddedFont>
      <p:font typeface="Sora"/>
      <p:regular r:id="rId43"/>
      <p:bold r:id="rId44"/>
    </p:embeddedFont>
    <p:embeddedFont>
      <p:font typeface="Sora Medium"/>
      <p:regular r:id="rId45"/>
      <p:bold r:id="rId46"/>
    </p:embeddedFont>
    <p:embeddedFont>
      <p:font typeface="IBM Plex Sans SemiBold"/>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raLight-bold.fntdata"/><Relationship Id="rId42" Type="http://schemas.openxmlformats.org/officeDocument/2006/relationships/font" Target="fonts/SoraExtraLight-bold.fntdata"/><Relationship Id="rId41" Type="http://schemas.openxmlformats.org/officeDocument/2006/relationships/font" Target="fonts/SoraExtraLight-regular.fntdata"/><Relationship Id="rId44" Type="http://schemas.openxmlformats.org/officeDocument/2006/relationships/font" Target="fonts/Sora-bold.fntdata"/><Relationship Id="rId43" Type="http://schemas.openxmlformats.org/officeDocument/2006/relationships/font" Target="fonts/Sora-regular.fntdata"/><Relationship Id="rId46" Type="http://schemas.openxmlformats.org/officeDocument/2006/relationships/font" Target="fonts/SoraMedium-bold.fntdata"/><Relationship Id="rId45" Type="http://schemas.openxmlformats.org/officeDocument/2006/relationships/font" Target="fonts/Sora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BMPlexSansSemiBold-bold.fntdata"/><Relationship Id="rId47" Type="http://schemas.openxmlformats.org/officeDocument/2006/relationships/font" Target="fonts/IBMPlexSansSemiBold-regular.fntdata"/><Relationship Id="rId49" Type="http://schemas.openxmlformats.org/officeDocument/2006/relationships/font" Target="fonts/IBMPlexSansSemi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BMPlexSans-italic.fntdata"/><Relationship Id="rId30" Type="http://schemas.openxmlformats.org/officeDocument/2006/relationships/font" Target="fonts/IBMPlexSans-bold.fntdata"/><Relationship Id="rId33" Type="http://schemas.openxmlformats.org/officeDocument/2006/relationships/font" Target="fonts/SoraSemiBold-regular.fntdata"/><Relationship Id="rId32" Type="http://schemas.openxmlformats.org/officeDocument/2006/relationships/font" Target="fonts/IBMPlexSans-boldItalic.fntdata"/><Relationship Id="rId35" Type="http://schemas.openxmlformats.org/officeDocument/2006/relationships/font" Target="fonts/IBMPlexSansMedium-regular.fntdata"/><Relationship Id="rId34" Type="http://schemas.openxmlformats.org/officeDocument/2006/relationships/font" Target="fonts/SoraSemiBold-bold.fntdata"/><Relationship Id="rId37" Type="http://schemas.openxmlformats.org/officeDocument/2006/relationships/font" Target="fonts/IBMPlexSansMedium-italic.fntdata"/><Relationship Id="rId36" Type="http://schemas.openxmlformats.org/officeDocument/2006/relationships/font" Target="fonts/IBMPlexSansMedium-bold.fntdata"/><Relationship Id="rId39" Type="http://schemas.openxmlformats.org/officeDocument/2006/relationships/font" Target="fonts/SoraLight-regular.fntdata"/><Relationship Id="rId38" Type="http://schemas.openxmlformats.org/officeDocument/2006/relationships/font" Target="fonts/IBMPlexSansMedium-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font" Target="fonts/IBMPlexSans-regular.fntdata"/><Relationship Id="rId50" Type="http://schemas.openxmlformats.org/officeDocument/2006/relationships/font" Target="fonts/IBMPlexSansSemiBold-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aa374221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aa374221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912972a1d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912972a1d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912972a1d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3912972a1d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ac8b1df95c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3ac8b1df95c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begin with the matrix of squared distances:</a:t>
            </a:r>
            <a:endParaRPr/>
          </a:p>
          <a:p>
            <a:pPr indent="-298450" lvl="0" marL="457200" rtl="0" algn="l">
              <a:spcBef>
                <a:spcPts val="0"/>
              </a:spcBef>
              <a:spcAft>
                <a:spcPts val="0"/>
              </a:spcAft>
              <a:buSzPts val="1100"/>
              <a:buChar char="-"/>
            </a:pPr>
            <a:r>
              <a:rPr lang="en"/>
              <a:t>That is the only information we assume we’re given, the travelers notebook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then define our centering matrix J, which</a:t>
            </a:r>
            <a:endParaRPr/>
          </a:p>
          <a:p>
            <a:pPr indent="-298450" lvl="0" marL="457200" rtl="0" algn="l">
              <a:spcBef>
                <a:spcPts val="0"/>
              </a:spcBef>
              <a:spcAft>
                <a:spcPts val="0"/>
              </a:spcAft>
              <a:buSzPts val="1100"/>
              <a:buChar char="-"/>
            </a:pPr>
            <a:r>
              <a:rPr lang="en"/>
              <a:t>which subtracts the mean from every column.</a:t>
            </a:r>
            <a:endParaRPr/>
          </a:p>
          <a:p>
            <a:pPr indent="-298450" lvl="0" marL="457200" rtl="0" algn="l">
              <a:spcBef>
                <a:spcPts val="0"/>
              </a:spcBef>
              <a:spcAft>
                <a:spcPts val="0"/>
              </a:spcAft>
              <a:buSzPts val="1100"/>
              <a:buChar char="-"/>
            </a:pPr>
            <a:r>
              <a:rPr lang="en"/>
              <a:t>We’ll use it to recover inner products from distances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Matrix X is our gram matrix, which</a:t>
            </a:r>
            <a:endParaRPr/>
          </a:p>
          <a:p>
            <a:pPr indent="-298450" lvl="0" marL="457200" rtl="0" algn="l">
              <a:spcBef>
                <a:spcPts val="0"/>
              </a:spcBef>
              <a:spcAft>
                <a:spcPts val="0"/>
              </a:spcAft>
              <a:buSzPts val="1100"/>
              <a:buChar char="-"/>
            </a:pPr>
            <a:r>
              <a:rPr lang="en"/>
              <a:t>Is a matrix of all the dot products between your points</a:t>
            </a:r>
            <a:endParaRPr/>
          </a:p>
          <a:p>
            <a:pPr indent="-298450" lvl="0" marL="457200" rtl="0" algn="l">
              <a:spcBef>
                <a:spcPts val="0"/>
              </a:spcBef>
              <a:spcAft>
                <a:spcPts val="0"/>
              </a:spcAft>
              <a:buSzPts val="1100"/>
              <a:buChar char="-"/>
            </a:pPr>
            <a:r>
              <a:rPr lang="en"/>
              <a:t>Captures the distance between points, direction, and dimensionality of space the point cloud lives in (entire geometry of our point cloud)</a:t>
            </a:r>
            <a:endParaRPr/>
          </a:p>
          <a:p>
            <a:pPr indent="-298450" lvl="0" marL="457200" rtl="0" algn="l">
              <a:spcBef>
                <a:spcPts val="0"/>
              </a:spcBef>
              <a:spcAft>
                <a:spcPts val="0"/>
              </a:spcAft>
              <a:buSzPts val="1100"/>
              <a:buChar char="-"/>
            </a:pPr>
            <a:r>
              <a:rPr lang="en"/>
              <a:t>PSD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then do the eigen decomp of the gram matrix,</a:t>
            </a:r>
            <a:endParaRPr/>
          </a:p>
          <a:p>
            <a:pPr indent="-298450" lvl="0" marL="457200" rtl="0" algn="l">
              <a:spcBef>
                <a:spcPts val="0"/>
              </a:spcBef>
              <a:spcAft>
                <a:spcPts val="0"/>
              </a:spcAft>
              <a:buSzPts val="1100"/>
              <a:buChar char="-"/>
            </a:pPr>
            <a:r>
              <a:rPr lang="en"/>
              <a:t>Picking the top k eigenvalues and eigenvectors we get our dimensional space</a:t>
            </a:r>
            <a:endParaRPr/>
          </a:p>
          <a:p>
            <a:pPr indent="-298450" lvl="0" marL="457200" rtl="0" algn="l">
              <a:spcBef>
                <a:spcPts val="0"/>
              </a:spcBef>
              <a:spcAft>
                <a:spcPts val="0"/>
              </a:spcAft>
              <a:buSzPts val="1100"/>
              <a:buChar char="-"/>
            </a:pPr>
            <a:r>
              <a:rPr lang="en"/>
              <a:t>The eigenvectors give the directions of the embedding, the eigenvalues give the scales, and multiplying them gives us the coordinates.</a:t>
            </a:r>
            <a:endParaRPr/>
          </a:p>
          <a:p>
            <a:pPr indent="-298450" lvl="0" marL="457200" rtl="0" algn="l">
              <a:spcBef>
                <a:spcPts val="0"/>
              </a:spcBef>
              <a:spcAft>
                <a:spcPts val="0"/>
              </a:spcAft>
              <a:buSzPts val="1100"/>
              <a:buChar char="-"/>
            </a:pPr>
            <a:r>
              <a:rPr lang="en"/>
              <a:t>That final matrix is P, and each row is the recovered coordinates of a city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912d64f50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912d64f50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353535"/>
                </a:solidFill>
                <a:latin typeface="Sora"/>
                <a:ea typeface="Sora"/>
                <a:cs typeface="Sora"/>
                <a:sym typeface="Sora"/>
              </a:rPr>
              <a:t>Additionally when we use it to reconstruct the globe based on the continents we can use it to both scale and properly orient our continents relative to each other in order to get the best representation.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912972a1db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912972a1db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912972a1db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912972a1d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912972a1d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912972a1db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912972a1d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3912972a1d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912972a1db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3912972a1db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912972a1db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3912972a1db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912972a1db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3912972a1db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912972a1d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912972a1d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912972a1db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3912972a1db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912972a1db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912972a1d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912972a1db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3912972a1d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Continents are sticking together but very distorted</a:t>
            </a:r>
            <a:endParaRPr/>
          </a:p>
          <a:p>
            <a:pPr indent="0" lvl="0" marL="0" rtl="0" algn="l">
              <a:spcBef>
                <a:spcPts val="0"/>
              </a:spcBef>
              <a:spcAft>
                <a:spcPts val="0"/>
              </a:spcAft>
              <a:buNone/>
            </a:pPr>
            <a:r>
              <a:rPr lang="en"/>
              <a:t>Lets again try by using the per </a:t>
            </a:r>
            <a:r>
              <a:rPr lang="en"/>
              <a:t>continent</a:t>
            </a:r>
            <a:r>
              <a:rPr lang="en"/>
              <a:t> method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912972a1d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3912972a1d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912972a1db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3912972a1db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Each continent is Procrustes-aligned to its own lon/lat coordinates, which places them into the right general global positions. But because every continent’s 2D MDS is created independently and lon/lat introduce projection distortion, the continents end up with slight rotational mismatches that Procrustes cannot fix globally.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912972a1db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3912972a1db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912972a1db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3912972a1db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ac8b1df95c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3ac8b1df95c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Also talk about if we had bigger data set we </a:t>
            </a:r>
            <a:r>
              <a:rPr lang="en"/>
              <a:t>could</a:t>
            </a:r>
            <a:r>
              <a:rPr lang="en"/>
              <a:t> do by country instead of </a:t>
            </a:r>
            <a:r>
              <a:rPr lang="en"/>
              <a:t>continent</a:t>
            </a:r>
            <a:r>
              <a:rPr lang="en"/>
              <a:t> (even flatter)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912d64f50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3912d64f50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912d64f50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912d64f50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Using MDS to construct global maps</a:t>
            </a:r>
            <a:endParaRPr>
              <a:solidFill>
                <a:schemeClr val="dk2"/>
              </a:solidFill>
            </a:endParaRPr>
          </a:p>
        </p:txBody>
      </p:sp>
      <p:sp>
        <p:nvSpPr>
          <p:cNvPr id="889" name="Google Shape;889;p51"/>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By: Alex Bronstein &amp; Owen Haber</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000000"/>
                </a:solidFill>
                <a:latin typeface="Arial"/>
                <a:ea typeface="Arial"/>
                <a:cs typeface="Arial"/>
                <a:sym typeface="Arial"/>
              </a:rPr>
              <a:t>You wake up one morning to find that every map of the world has been erased from existence</a:t>
            </a:r>
            <a:endParaRPr sz="15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00">
                <a:solidFill>
                  <a:srgbClr val="000000"/>
                </a:solidFill>
                <a:latin typeface="Arial"/>
                <a:ea typeface="Arial"/>
                <a:cs typeface="Arial"/>
                <a:sym typeface="Arial"/>
              </a:rPr>
              <a:t>- no globes</a:t>
            </a:r>
            <a:endParaRPr sz="15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00">
                <a:solidFill>
                  <a:srgbClr val="000000"/>
                </a:solidFill>
                <a:latin typeface="Arial"/>
                <a:ea typeface="Arial"/>
                <a:cs typeface="Arial"/>
                <a:sym typeface="Arial"/>
              </a:rPr>
              <a:t>- no gps</a:t>
            </a:r>
            <a:endParaRPr sz="15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5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00">
                <a:solidFill>
                  <a:srgbClr val="000000"/>
                </a:solidFill>
                <a:latin typeface="Arial"/>
                <a:ea typeface="Arial"/>
                <a:cs typeface="Arial"/>
                <a:sym typeface="Arial"/>
              </a:rPr>
              <a:t>All you have is a strange notebook from a very determined traveler, who walked between cities and </a:t>
            </a:r>
            <a:endParaRPr sz="15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00">
                <a:solidFill>
                  <a:srgbClr val="000000"/>
                </a:solidFill>
                <a:latin typeface="Arial"/>
                <a:ea typeface="Arial"/>
                <a:cs typeface="Arial"/>
                <a:sym typeface="Arial"/>
              </a:rPr>
              <a:t>recorded his distance (always walking along the surface of the earth, never tunneling or flying).</a:t>
            </a:r>
            <a:endParaRPr sz="15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5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500">
                <a:solidFill>
                  <a:srgbClr val="000000"/>
                </a:solidFill>
                <a:latin typeface="Arial"/>
                <a:ea typeface="Arial"/>
                <a:cs typeface="Arial"/>
                <a:sym typeface="Arial"/>
              </a:rPr>
              <a:t>This is the </a:t>
            </a:r>
            <a:r>
              <a:rPr b="1" lang="en" sz="1500">
                <a:solidFill>
                  <a:srgbClr val="000000"/>
                </a:solidFill>
                <a:latin typeface="Arial"/>
                <a:ea typeface="Arial"/>
                <a:cs typeface="Arial"/>
                <a:sym typeface="Arial"/>
              </a:rPr>
              <a:t>geodesic</a:t>
            </a:r>
            <a:r>
              <a:rPr b="1" lang="en" sz="1500">
                <a:solidFill>
                  <a:srgbClr val="000000"/>
                </a:solidFill>
                <a:latin typeface="Arial"/>
                <a:ea typeface="Arial"/>
                <a:cs typeface="Arial"/>
                <a:sym typeface="Arial"/>
              </a:rPr>
              <a:t> distance</a:t>
            </a:r>
            <a:r>
              <a:rPr lang="en" sz="1500">
                <a:solidFill>
                  <a:srgbClr val="000000"/>
                </a:solidFill>
                <a:latin typeface="Arial"/>
                <a:ea typeface="Arial"/>
                <a:cs typeface="Arial"/>
                <a:sym typeface="Arial"/>
              </a:rPr>
              <a:t> from walking between 50,000 major global cities</a:t>
            </a:r>
            <a:endParaRPr sz="15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5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500">
              <a:solidFill>
                <a:srgbClr val="000000"/>
              </a:solidFill>
              <a:latin typeface="Arial"/>
              <a:ea typeface="Arial"/>
              <a:cs typeface="Arial"/>
              <a:sym typeface="Arial"/>
            </a:endParaRPr>
          </a:p>
        </p:txBody>
      </p:sp>
      <p:sp>
        <p:nvSpPr>
          <p:cNvPr id="895" name="Google Shape;895;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p:txBody>
      </p:sp>
      <p:pic>
        <p:nvPicPr>
          <p:cNvPr id="896" name="Google Shape;896;p52"/>
          <p:cNvPicPr preferRelativeResize="0"/>
          <p:nvPr/>
        </p:nvPicPr>
        <p:blipFill>
          <a:blip r:embed="rId3">
            <a:alphaModFix/>
          </a:blip>
          <a:stretch>
            <a:fillRect/>
          </a:stretch>
        </p:blipFill>
        <p:spPr>
          <a:xfrm>
            <a:off x="7055450" y="2859575"/>
            <a:ext cx="1974500" cy="1988400"/>
          </a:xfrm>
          <a:prstGeom prst="rect">
            <a:avLst/>
          </a:prstGeom>
          <a:noFill/>
          <a:ln>
            <a:noFill/>
          </a:ln>
        </p:spPr>
      </p:pic>
      <p:sp>
        <p:nvSpPr>
          <p:cNvPr id="897" name="Google Shape;897;p52"/>
          <p:cNvSpPr/>
          <p:nvPr/>
        </p:nvSpPr>
        <p:spPr>
          <a:xfrm>
            <a:off x="8593750" y="132775"/>
            <a:ext cx="321600" cy="312300"/>
          </a:xfrm>
          <a:prstGeom prst="donut">
            <a:avLst>
              <a:gd fmla="val 110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a:t>
            </a:r>
            <a:endParaRPr/>
          </a:p>
        </p:txBody>
      </p:sp>
      <p:sp>
        <p:nvSpPr>
          <p:cNvPr id="903" name="Google Shape;903;p5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With only these “arc length” geodesic distances, </a:t>
            </a:r>
            <a:endParaRPr sz="2000"/>
          </a:p>
          <a:p>
            <a:pPr indent="0" lvl="0" marL="0" rtl="0" algn="l">
              <a:spcBef>
                <a:spcPts val="0"/>
              </a:spcBef>
              <a:spcAft>
                <a:spcPts val="0"/>
              </a:spcAft>
              <a:buNone/>
            </a:pPr>
            <a:r>
              <a:rPr lang="en" sz="2000"/>
              <a:t>can we recreate 3D or 2D global maps using </a:t>
            </a:r>
            <a:r>
              <a:rPr lang="en" sz="2000"/>
              <a:t>only</a:t>
            </a:r>
            <a:r>
              <a:rPr lang="en" sz="2000"/>
              <a:t> Multi-Dimensional Scaling and Procrustes alignment.</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54"/>
          <p:cNvSpPr txBox="1"/>
          <p:nvPr>
            <p:ph type="title"/>
          </p:nvPr>
        </p:nvSpPr>
        <p:spPr>
          <a:xfrm>
            <a:off x="479700" y="78150"/>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MDS Review</a:t>
            </a:r>
            <a:endParaRPr/>
          </a:p>
        </p:txBody>
      </p:sp>
      <p:sp>
        <p:nvSpPr>
          <p:cNvPr id="909" name="Google Shape;909;p54"/>
          <p:cNvSpPr txBox="1"/>
          <p:nvPr/>
        </p:nvSpPr>
        <p:spPr>
          <a:xfrm>
            <a:off x="-155750" y="30340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latin typeface="Sora"/>
              <a:ea typeface="Sora"/>
              <a:cs typeface="Sora"/>
              <a:sym typeface="Sora"/>
            </a:endParaRPr>
          </a:p>
        </p:txBody>
      </p:sp>
      <p:sp>
        <p:nvSpPr>
          <p:cNvPr id="910" name="Google Shape;910;p54"/>
          <p:cNvSpPr txBox="1"/>
          <p:nvPr/>
        </p:nvSpPr>
        <p:spPr>
          <a:xfrm>
            <a:off x="606200" y="3818975"/>
            <a:ext cx="547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Sora"/>
              <a:ea typeface="Sora"/>
              <a:cs typeface="Sora"/>
              <a:sym typeface="Sora"/>
            </a:endParaRPr>
          </a:p>
        </p:txBody>
      </p:sp>
      <p:sp>
        <p:nvSpPr>
          <p:cNvPr id="911" name="Google Shape;911;p54"/>
          <p:cNvSpPr txBox="1"/>
          <p:nvPr/>
        </p:nvSpPr>
        <p:spPr>
          <a:xfrm>
            <a:off x="492800" y="4692100"/>
            <a:ext cx="547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Sora"/>
              <a:ea typeface="Sora"/>
              <a:cs typeface="Sora"/>
              <a:sym typeface="Sora"/>
            </a:endParaRPr>
          </a:p>
        </p:txBody>
      </p:sp>
      <p:sp>
        <p:nvSpPr>
          <p:cNvPr id="912" name="Google Shape;912;p54"/>
          <p:cNvSpPr txBox="1"/>
          <p:nvPr/>
        </p:nvSpPr>
        <p:spPr>
          <a:xfrm>
            <a:off x="3667800" y="4544675"/>
            <a:ext cx="547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Sora"/>
              <a:ea typeface="Sora"/>
              <a:cs typeface="Sora"/>
              <a:sym typeface="Sora"/>
            </a:endParaRPr>
          </a:p>
        </p:txBody>
      </p:sp>
      <p:sp>
        <p:nvSpPr>
          <p:cNvPr id="913" name="Google Shape;913;p54"/>
          <p:cNvSpPr txBox="1"/>
          <p:nvPr>
            <p:ph idx="3" type="subTitle"/>
          </p:nvPr>
        </p:nvSpPr>
        <p:spPr>
          <a:xfrm>
            <a:off x="41750" y="836250"/>
            <a:ext cx="4181400" cy="251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Want to find nxd matrix 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Distance Squared Matrix 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Define matrix J 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Define matrix  X 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Eigen decomp 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now recover 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14" name="Google Shape;914;p54"/>
          <p:cNvSpPr txBox="1"/>
          <p:nvPr>
            <p:ph idx="4" type="subTitle"/>
          </p:nvPr>
        </p:nvSpPr>
        <p:spPr>
          <a:xfrm>
            <a:off x="4045625" y="836250"/>
            <a:ext cx="5055300" cy="77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each row is just the coordinates of a point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D</a:t>
            </a:r>
            <a:r>
              <a:rPr baseline="-25000" lang="en"/>
              <a:t>ij</a:t>
            </a:r>
            <a:r>
              <a:rPr lang="en"/>
              <a:t> = distance(x</a:t>
            </a:r>
            <a:r>
              <a:rPr baseline="-25000" lang="en"/>
              <a:t>i</a:t>
            </a:r>
            <a:r>
              <a:rPr lang="en"/>
              <a:t>,x</a:t>
            </a:r>
            <a:r>
              <a:rPr baseline="-25000" lang="en"/>
              <a:t>j</a:t>
            </a:r>
            <a:r>
              <a:rPr lang="en"/>
              <a:t>)²</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 = I − (1/n) * 1 1ᵀ</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X = -½ JDJ where also X = PPᵀ</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X = VΛVᵀ where Λ is just a diagonal matrix with the eigenvalues of 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 = VΛ</a:t>
            </a:r>
            <a:r>
              <a:rPr baseline="30000" lang="en"/>
              <a:t>1/2</a:t>
            </a:r>
            <a:endParaRPr baseline="300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15" name="Google Shape;915;p54"/>
          <p:cNvSpPr/>
          <p:nvPr/>
        </p:nvSpPr>
        <p:spPr>
          <a:xfrm>
            <a:off x="8664300" y="144900"/>
            <a:ext cx="321600" cy="312300"/>
          </a:xfrm>
          <a:prstGeom prst="donut">
            <a:avLst>
              <a:gd fmla="val 110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55"/>
          <p:cNvSpPr txBox="1"/>
          <p:nvPr>
            <p:ph idx="2" type="title"/>
          </p:nvPr>
        </p:nvSpPr>
        <p:spPr>
          <a:xfrm>
            <a:off x="115025" y="406250"/>
            <a:ext cx="7464300" cy="1254600"/>
          </a:xfrm>
          <a:prstGeom prst="rect">
            <a:avLst/>
          </a:prstGeom>
        </p:spPr>
        <p:txBody>
          <a:bodyPr anchorCtr="0" anchor="t" bIns="91425" lIns="91425" spcFirstLastPara="1" rIns="91425" wrap="square" tIns="0">
            <a:noAutofit/>
          </a:bodyPr>
          <a:lstStyle/>
          <a:p>
            <a:pPr indent="0" lvl="0" marL="0" rtl="0" algn="l">
              <a:lnSpc>
                <a:spcPct val="80000"/>
              </a:lnSpc>
              <a:spcBef>
                <a:spcPts val="0"/>
              </a:spcBef>
              <a:spcAft>
                <a:spcPts val="0"/>
              </a:spcAft>
              <a:buNone/>
            </a:pPr>
            <a:r>
              <a:rPr lang="en"/>
              <a:t>Procrustes alignment </a:t>
            </a:r>
            <a:endParaRPr/>
          </a:p>
          <a:p>
            <a:pPr indent="0" lvl="0" marL="0" rtl="0" algn="l">
              <a:lnSpc>
                <a:spcPct val="8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pic>
        <p:nvPicPr>
          <p:cNvPr descr="Procrustes - Wikipedia" id="921" name="Google Shape;921;p55"/>
          <p:cNvPicPr preferRelativeResize="0"/>
          <p:nvPr/>
        </p:nvPicPr>
        <p:blipFill>
          <a:blip r:embed="rId3">
            <a:alphaModFix/>
          </a:blip>
          <a:stretch>
            <a:fillRect/>
          </a:stretch>
        </p:blipFill>
        <p:spPr>
          <a:xfrm>
            <a:off x="6386100" y="1307993"/>
            <a:ext cx="2757900" cy="2029807"/>
          </a:xfrm>
          <a:prstGeom prst="rect">
            <a:avLst/>
          </a:prstGeom>
          <a:noFill/>
          <a:ln>
            <a:noFill/>
          </a:ln>
        </p:spPr>
      </p:pic>
      <p:sp>
        <p:nvSpPr>
          <p:cNvPr id="922" name="Google Shape;922;p55"/>
          <p:cNvSpPr txBox="1"/>
          <p:nvPr/>
        </p:nvSpPr>
        <p:spPr>
          <a:xfrm>
            <a:off x="0" y="1186500"/>
            <a:ext cx="63861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Sora"/>
                <a:ea typeface="Sora"/>
                <a:cs typeface="Sora"/>
                <a:sym typeface="Sora"/>
              </a:rPr>
              <a:t>Procrustes alignment takes 2 shapes (2 sets of points) and then finds the best rotation, translation and scaling </a:t>
            </a:r>
            <a:r>
              <a:rPr lang="en">
                <a:solidFill>
                  <a:schemeClr val="lt1"/>
                </a:solidFill>
                <a:latin typeface="Sora"/>
                <a:ea typeface="Sora"/>
                <a:cs typeface="Sora"/>
                <a:sym typeface="Sora"/>
              </a:rPr>
              <a:t>that</a:t>
            </a:r>
            <a:r>
              <a:rPr lang="en">
                <a:solidFill>
                  <a:schemeClr val="lt1"/>
                </a:solidFill>
                <a:latin typeface="Sora"/>
                <a:ea typeface="Sora"/>
                <a:cs typeface="Sora"/>
                <a:sym typeface="Sora"/>
              </a:rPr>
              <a:t> </a:t>
            </a:r>
            <a:r>
              <a:rPr lang="en">
                <a:solidFill>
                  <a:schemeClr val="lt1"/>
                </a:solidFill>
                <a:latin typeface="Sora"/>
                <a:ea typeface="Sora"/>
                <a:cs typeface="Sora"/>
                <a:sym typeface="Sora"/>
              </a:rPr>
              <a:t>minimizes</a:t>
            </a:r>
            <a:r>
              <a:rPr lang="en">
                <a:solidFill>
                  <a:schemeClr val="lt1"/>
                </a:solidFill>
                <a:latin typeface="Sora"/>
                <a:ea typeface="Sora"/>
                <a:cs typeface="Sora"/>
                <a:sym typeface="Sora"/>
              </a:rPr>
              <a:t> the error between the two</a:t>
            </a:r>
            <a:endParaRPr>
              <a:solidFill>
                <a:schemeClr val="lt1"/>
              </a:solidFill>
              <a:latin typeface="Sora"/>
              <a:ea typeface="Sora"/>
              <a:cs typeface="Sora"/>
              <a:sym typeface="Sora"/>
            </a:endParaRPr>
          </a:p>
          <a:p>
            <a:pPr indent="0" lvl="0" marL="0" rtl="0" algn="l">
              <a:spcBef>
                <a:spcPts val="0"/>
              </a:spcBef>
              <a:spcAft>
                <a:spcPts val="0"/>
              </a:spcAft>
              <a:buNone/>
            </a:pPr>
            <a:r>
              <a:t/>
            </a:r>
            <a:endParaRPr>
              <a:solidFill>
                <a:schemeClr val="lt1"/>
              </a:solidFill>
              <a:latin typeface="Sora"/>
              <a:ea typeface="Sora"/>
              <a:cs typeface="Sora"/>
              <a:sym typeface="Sora"/>
            </a:endParaRPr>
          </a:p>
          <a:p>
            <a:pPr indent="0" lvl="0" marL="0" rtl="0" algn="l">
              <a:spcBef>
                <a:spcPts val="0"/>
              </a:spcBef>
              <a:spcAft>
                <a:spcPts val="0"/>
              </a:spcAft>
              <a:buNone/>
            </a:pPr>
            <a:r>
              <a:rPr lang="en">
                <a:solidFill>
                  <a:schemeClr val="lt1"/>
                </a:solidFill>
                <a:latin typeface="Sora"/>
                <a:ea typeface="Sora"/>
                <a:cs typeface="Sora"/>
                <a:sym typeface="Sora"/>
              </a:rPr>
              <a:t>The relation it has to MDS is that if we </a:t>
            </a:r>
            <a:r>
              <a:rPr lang="en">
                <a:solidFill>
                  <a:schemeClr val="lt1"/>
                </a:solidFill>
                <a:latin typeface="Sora"/>
                <a:ea typeface="Sora"/>
                <a:cs typeface="Sora"/>
                <a:sym typeface="Sora"/>
              </a:rPr>
              <a:t>perfectly</a:t>
            </a:r>
            <a:r>
              <a:rPr lang="en">
                <a:solidFill>
                  <a:schemeClr val="lt1"/>
                </a:solidFill>
                <a:latin typeface="Sora"/>
                <a:ea typeface="Sora"/>
                <a:cs typeface="Sora"/>
                <a:sym typeface="Sora"/>
              </a:rPr>
              <a:t> reconstruct a set of points, they still may be inconsistent by a rotation. </a:t>
            </a:r>
            <a:endParaRPr>
              <a:solidFill>
                <a:schemeClr val="lt1"/>
              </a:solidFill>
              <a:latin typeface="Sora"/>
              <a:ea typeface="Sora"/>
              <a:cs typeface="Sora"/>
              <a:sym typeface="Sora"/>
            </a:endParaRPr>
          </a:p>
          <a:p>
            <a:pPr indent="0" lvl="0" marL="0" rtl="0" algn="l">
              <a:spcBef>
                <a:spcPts val="0"/>
              </a:spcBef>
              <a:spcAft>
                <a:spcPts val="0"/>
              </a:spcAft>
              <a:buNone/>
            </a:pPr>
            <a:r>
              <a:t/>
            </a:r>
            <a:endParaRPr>
              <a:solidFill>
                <a:schemeClr val="lt1"/>
              </a:solidFill>
              <a:latin typeface="Sora"/>
              <a:ea typeface="Sora"/>
              <a:cs typeface="Sora"/>
              <a:sym typeface="Sora"/>
            </a:endParaRPr>
          </a:p>
          <a:p>
            <a:pPr indent="0" lvl="0" marL="0" rtl="0" algn="l">
              <a:spcBef>
                <a:spcPts val="0"/>
              </a:spcBef>
              <a:spcAft>
                <a:spcPts val="0"/>
              </a:spcAft>
              <a:buNone/>
            </a:pPr>
            <a:r>
              <a:t/>
            </a:r>
            <a:endParaRPr>
              <a:solidFill>
                <a:schemeClr val="lt1"/>
              </a:solidFill>
              <a:latin typeface="Sora"/>
              <a:ea typeface="Sora"/>
              <a:cs typeface="Sora"/>
              <a:sym typeface="Sora"/>
            </a:endParaRPr>
          </a:p>
          <a:p>
            <a:pPr indent="0" lvl="0" marL="0" rtl="0" algn="l">
              <a:spcBef>
                <a:spcPts val="0"/>
              </a:spcBef>
              <a:spcAft>
                <a:spcPts val="0"/>
              </a:spcAft>
              <a:buNone/>
            </a:pPr>
            <a:r>
              <a:rPr lang="en">
                <a:solidFill>
                  <a:schemeClr val="lt1"/>
                </a:solidFill>
                <a:latin typeface="Sora"/>
                <a:ea typeface="Sora"/>
                <a:cs typeface="Sora"/>
                <a:sym typeface="Sora"/>
              </a:rPr>
              <a:t>Inputs: X (the shape we want to align) and Y (the shape we want X to match)</a:t>
            </a:r>
            <a:endParaRPr>
              <a:solidFill>
                <a:schemeClr val="lt1"/>
              </a:solidFill>
              <a:latin typeface="Sora"/>
              <a:ea typeface="Sora"/>
              <a:cs typeface="Sora"/>
              <a:sym typeface="Sora"/>
            </a:endParaRPr>
          </a:p>
          <a:p>
            <a:pPr indent="0" lvl="0" marL="0" rtl="0" algn="l">
              <a:spcBef>
                <a:spcPts val="0"/>
              </a:spcBef>
              <a:spcAft>
                <a:spcPts val="0"/>
              </a:spcAft>
              <a:buNone/>
            </a:pPr>
            <a:r>
              <a:rPr lang="en">
                <a:solidFill>
                  <a:schemeClr val="lt1"/>
                </a:solidFill>
                <a:latin typeface="Sora"/>
                <a:ea typeface="Sora"/>
                <a:cs typeface="Sora"/>
                <a:sym typeface="Sora"/>
              </a:rPr>
              <a:t>Goal is to minimize: ||Y - (sXR + t)||</a:t>
            </a:r>
            <a:r>
              <a:rPr baseline="30000" lang="en">
                <a:solidFill>
                  <a:schemeClr val="lt1"/>
                </a:solidFill>
                <a:latin typeface="Sora"/>
                <a:ea typeface="Sora"/>
                <a:cs typeface="Sora"/>
                <a:sym typeface="Sora"/>
              </a:rPr>
              <a:t>2</a:t>
            </a:r>
            <a:r>
              <a:rPr baseline="-25000" lang="en">
                <a:solidFill>
                  <a:schemeClr val="lt1"/>
                </a:solidFill>
                <a:latin typeface="Sora"/>
                <a:ea typeface="Sora"/>
                <a:cs typeface="Sora"/>
                <a:sym typeface="Sora"/>
              </a:rPr>
              <a:t>F</a:t>
            </a:r>
            <a:r>
              <a:rPr lang="en">
                <a:solidFill>
                  <a:schemeClr val="lt1"/>
                </a:solidFill>
                <a:latin typeface="Sora"/>
                <a:ea typeface="Sora"/>
                <a:cs typeface="Sora"/>
                <a:sym typeface="Sora"/>
              </a:rPr>
              <a:t> where s is a scaling factor R is a rotation </a:t>
            </a:r>
            <a:r>
              <a:rPr lang="en">
                <a:solidFill>
                  <a:schemeClr val="lt1"/>
                </a:solidFill>
                <a:latin typeface="Sora"/>
                <a:ea typeface="Sora"/>
                <a:cs typeface="Sora"/>
                <a:sym typeface="Sora"/>
              </a:rPr>
              <a:t>matrix</a:t>
            </a:r>
            <a:r>
              <a:rPr lang="en">
                <a:solidFill>
                  <a:schemeClr val="lt1"/>
                </a:solidFill>
                <a:latin typeface="Sora"/>
                <a:ea typeface="Sora"/>
                <a:cs typeface="Sora"/>
                <a:sym typeface="Sora"/>
              </a:rPr>
              <a:t> and t is a translation </a:t>
            </a:r>
            <a:r>
              <a:rPr lang="en">
                <a:solidFill>
                  <a:schemeClr val="lt1"/>
                </a:solidFill>
                <a:latin typeface="Sora"/>
                <a:ea typeface="Sora"/>
                <a:cs typeface="Sora"/>
                <a:sym typeface="Sora"/>
              </a:rPr>
              <a:t>vector</a:t>
            </a:r>
            <a:r>
              <a:rPr lang="en">
                <a:solidFill>
                  <a:schemeClr val="lt1"/>
                </a:solidFill>
                <a:latin typeface="Sora"/>
                <a:ea typeface="Sora"/>
                <a:cs typeface="Sora"/>
                <a:sym typeface="Sora"/>
              </a:rPr>
              <a:t> (1xd) where each entry of</a:t>
            </a:r>
            <a:endParaRPr>
              <a:solidFill>
                <a:schemeClr val="lt1"/>
              </a:solidFill>
              <a:latin typeface="Sora"/>
              <a:ea typeface="Sora"/>
              <a:cs typeface="Sora"/>
              <a:sym typeface="Sora"/>
            </a:endParaRPr>
          </a:p>
          <a:p>
            <a:pPr indent="0" lvl="0" marL="0" rtl="0" algn="l">
              <a:spcBef>
                <a:spcPts val="0"/>
              </a:spcBef>
              <a:spcAft>
                <a:spcPts val="0"/>
              </a:spcAft>
              <a:buNone/>
            </a:pPr>
            <a:r>
              <a:rPr lang="en">
                <a:solidFill>
                  <a:schemeClr val="lt1"/>
                </a:solidFill>
                <a:latin typeface="Sora"/>
                <a:ea typeface="Sora"/>
                <a:cs typeface="Sora"/>
                <a:sym typeface="Sora"/>
              </a:rPr>
              <a:t>t</a:t>
            </a:r>
            <a:r>
              <a:rPr lang="en">
                <a:solidFill>
                  <a:schemeClr val="lt1"/>
                </a:solidFill>
                <a:latin typeface="Sora"/>
                <a:ea typeface="Sora"/>
                <a:cs typeface="Sora"/>
                <a:sym typeface="Sora"/>
              </a:rPr>
              <a:t> is added to every entry of sXR at its respective column. </a:t>
            </a:r>
            <a:endParaRPr>
              <a:solidFill>
                <a:schemeClr val="lt1"/>
              </a:solidFill>
              <a:latin typeface="Sora"/>
              <a:ea typeface="Sora"/>
              <a:cs typeface="Sora"/>
              <a:sym typeface="S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56"/>
          <p:cNvSpPr txBox="1"/>
          <p:nvPr>
            <p:ph type="title"/>
          </p:nvPr>
        </p:nvSpPr>
        <p:spPr>
          <a:xfrm>
            <a:off x="115025" y="509500"/>
            <a:ext cx="78357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a:t>
            </a:r>
            <a:endParaRPr/>
          </a:p>
          <a:p>
            <a:pPr indent="0" lvl="0" marL="0" rtl="0" algn="l">
              <a:spcBef>
                <a:spcPts val="0"/>
              </a:spcBef>
              <a:spcAft>
                <a:spcPts val="0"/>
              </a:spcAft>
              <a:buNone/>
            </a:pPr>
            <a:r>
              <a:rPr lang="en" sz="2000"/>
              <a:t>(using 3D Euclidean Coordinates)</a:t>
            </a:r>
            <a:endParaRPr sz="2000"/>
          </a:p>
        </p:txBody>
      </p:sp>
      <p:sp>
        <p:nvSpPr>
          <p:cNvPr id="928" name="Google Shape;928;p5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29" name="Google Shape;929;p56"/>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p>
            <a:pPr indent="0" lvl="0" marL="0" rtl="0" algn="l">
              <a:spcBef>
                <a:spcPts val="0"/>
              </a:spcBef>
              <a:spcAft>
                <a:spcPts val="1000"/>
              </a:spcAft>
              <a:buNone/>
            </a:pPr>
            <a:r>
              <a:t/>
            </a:r>
            <a:endParaRPr/>
          </a:p>
        </p:txBody>
      </p:sp>
      <p:sp>
        <p:nvSpPr>
          <p:cNvPr id="930" name="Google Shape;930;p5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31" name="Google Shape;931;p56"/>
          <p:cNvPicPr preferRelativeResize="0"/>
          <p:nvPr/>
        </p:nvPicPr>
        <p:blipFill>
          <a:blip r:embed="rId3">
            <a:alphaModFix/>
          </a:blip>
          <a:stretch>
            <a:fillRect/>
          </a:stretch>
        </p:blipFill>
        <p:spPr>
          <a:xfrm>
            <a:off x="179575" y="1553950"/>
            <a:ext cx="8563650" cy="2566350"/>
          </a:xfrm>
          <a:prstGeom prst="rect">
            <a:avLst/>
          </a:prstGeom>
          <a:noFill/>
          <a:ln>
            <a:noFill/>
          </a:ln>
        </p:spPr>
      </p:pic>
      <p:sp>
        <p:nvSpPr>
          <p:cNvPr id="932" name="Google Shape;932;p56"/>
          <p:cNvSpPr/>
          <p:nvPr/>
        </p:nvSpPr>
        <p:spPr>
          <a:xfrm>
            <a:off x="7629125" y="93150"/>
            <a:ext cx="321600" cy="312300"/>
          </a:xfrm>
          <a:prstGeom prst="donut">
            <a:avLst>
              <a:gd fmla="val 110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Problem: Curvature in 3D</a:t>
            </a:r>
            <a:endParaRPr/>
          </a:p>
        </p:txBody>
      </p:sp>
      <p:sp>
        <p:nvSpPr>
          <p:cNvPr id="938" name="Google Shape;938;p57"/>
          <p:cNvSpPr txBox="1"/>
          <p:nvPr>
            <p:ph idx="1" type="body"/>
          </p:nvPr>
        </p:nvSpPr>
        <p:spPr>
          <a:xfrm>
            <a:off x="311700" y="1017725"/>
            <a:ext cx="5314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measuring the arc length between two points on a sphere, not the euclidean distance.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ran 3D MDS on these new distances and compared them  to </a:t>
            </a:r>
            <a:r>
              <a:rPr lang="en"/>
              <a:t>the</a:t>
            </a:r>
            <a:r>
              <a:rPr lang="en"/>
              <a:t> same 3D ground truth coordinates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Visually, we can tell this is a poor recreation</a:t>
            </a:r>
            <a:endParaRPr/>
          </a:p>
        </p:txBody>
      </p:sp>
      <p:pic>
        <p:nvPicPr>
          <p:cNvPr id="939" name="Google Shape;939;p57"/>
          <p:cNvPicPr preferRelativeResize="0"/>
          <p:nvPr/>
        </p:nvPicPr>
        <p:blipFill>
          <a:blip r:embed="rId3">
            <a:alphaModFix/>
          </a:blip>
          <a:stretch>
            <a:fillRect/>
          </a:stretch>
        </p:blipFill>
        <p:spPr>
          <a:xfrm>
            <a:off x="6080700" y="1598525"/>
            <a:ext cx="2506650" cy="2524300"/>
          </a:xfrm>
          <a:prstGeom prst="rect">
            <a:avLst/>
          </a:prstGeom>
          <a:noFill/>
          <a:ln>
            <a:noFill/>
          </a:ln>
        </p:spPr>
      </p:pic>
      <p:pic>
        <p:nvPicPr>
          <p:cNvPr id="940" name="Google Shape;940;p57"/>
          <p:cNvPicPr preferRelativeResize="0"/>
          <p:nvPr/>
        </p:nvPicPr>
        <p:blipFill>
          <a:blip r:embed="rId4">
            <a:alphaModFix/>
          </a:blip>
          <a:stretch>
            <a:fillRect/>
          </a:stretch>
        </p:blipFill>
        <p:spPr>
          <a:xfrm>
            <a:off x="440738" y="2492225"/>
            <a:ext cx="5056718" cy="2460025"/>
          </a:xfrm>
          <a:prstGeom prst="rect">
            <a:avLst/>
          </a:prstGeom>
          <a:noFill/>
          <a:ln>
            <a:noFill/>
          </a:ln>
        </p:spPr>
      </p:pic>
      <p:sp>
        <p:nvSpPr>
          <p:cNvPr id="941" name="Google Shape;941;p57"/>
          <p:cNvSpPr/>
          <p:nvPr/>
        </p:nvSpPr>
        <p:spPr>
          <a:xfrm>
            <a:off x="8593750" y="132775"/>
            <a:ext cx="321600" cy="312300"/>
          </a:xfrm>
          <a:prstGeom prst="donut">
            <a:avLst>
              <a:gd fmla="val 110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58"/>
          <p:cNvSpPr txBox="1"/>
          <p:nvPr>
            <p:ph type="title"/>
          </p:nvPr>
        </p:nvSpPr>
        <p:spPr>
          <a:xfrm>
            <a:off x="228600" y="170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the structure is bad, some information is still there…</a:t>
            </a:r>
            <a:endParaRPr/>
          </a:p>
        </p:txBody>
      </p:sp>
      <p:sp>
        <p:nvSpPr>
          <p:cNvPr id="947" name="Google Shape;947;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948" name="Google Shape;948;p58"/>
          <p:cNvPicPr preferRelativeResize="0"/>
          <p:nvPr/>
        </p:nvPicPr>
        <p:blipFill rotWithShape="1">
          <a:blip r:embed="rId3">
            <a:alphaModFix/>
          </a:blip>
          <a:srcRect b="0" l="0" r="0" t="5231"/>
          <a:stretch/>
        </p:blipFill>
        <p:spPr>
          <a:xfrm>
            <a:off x="1411100" y="1541275"/>
            <a:ext cx="6227900" cy="279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if we do MDS on individual continents,</a:t>
            </a:r>
            <a:endParaRPr/>
          </a:p>
        </p:txBody>
      </p:sp>
      <p:sp>
        <p:nvSpPr>
          <p:cNvPr id="954" name="Google Shape;954;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Theory:</a:t>
            </a:r>
            <a:endParaRPr sz="1600"/>
          </a:p>
          <a:p>
            <a:pPr indent="0" lvl="0" marL="0" rtl="0" algn="l">
              <a:spcBef>
                <a:spcPts val="0"/>
              </a:spcBef>
              <a:spcAft>
                <a:spcPts val="0"/>
              </a:spcAft>
              <a:buNone/>
            </a:pPr>
            <a:r>
              <a:rPr lang="en" sz="1600"/>
              <a:t>A “slice” of the entire globe covering a smaller area will </a:t>
            </a:r>
            <a:r>
              <a:rPr lang="en" sz="1600"/>
              <a:t>yield</a:t>
            </a:r>
            <a:r>
              <a:rPr lang="en" sz="1600"/>
              <a:t> a reconstruction with less curvature distortion. Due to bend from the local arch of the sphere being smaller, there should be  less distortion in the MDS reconstruction per continent.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Stitching  these continents back together with procrustes may lead to a better piece-wise reconstruction than doing it all at once.</a:t>
            </a:r>
            <a:endParaRPr sz="1600"/>
          </a:p>
          <a:p>
            <a:pPr indent="0" lvl="0" marL="0" rtl="0" algn="l">
              <a:spcBef>
                <a:spcPts val="0"/>
              </a:spcBef>
              <a:spcAft>
                <a:spcPts val="0"/>
              </a:spcAft>
              <a:buNone/>
            </a:pPr>
            <a:r>
              <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60"/>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of 3D MDS on Geodesic Distances</a:t>
            </a:r>
            <a:endParaRPr/>
          </a:p>
        </p:txBody>
      </p:sp>
      <p:sp>
        <p:nvSpPr>
          <p:cNvPr id="960" name="Google Shape;960;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961" name="Google Shape;961;p60"/>
          <p:cNvPicPr preferRelativeResize="0"/>
          <p:nvPr/>
        </p:nvPicPr>
        <p:blipFill>
          <a:blip r:embed="rId3">
            <a:alphaModFix/>
          </a:blip>
          <a:stretch>
            <a:fillRect/>
          </a:stretch>
        </p:blipFill>
        <p:spPr>
          <a:xfrm>
            <a:off x="2109087" y="1267326"/>
            <a:ext cx="4925825" cy="3416399"/>
          </a:xfrm>
          <a:prstGeom prst="rect">
            <a:avLst/>
          </a:prstGeom>
          <a:noFill/>
          <a:ln>
            <a:noFill/>
          </a:ln>
        </p:spPr>
      </p:pic>
      <p:sp>
        <p:nvSpPr>
          <p:cNvPr id="962" name="Google Shape;962;p60"/>
          <p:cNvSpPr/>
          <p:nvPr/>
        </p:nvSpPr>
        <p:spPr>
          <a:xfrm>
            <a:off x="8593750" y="132775"/>
            <a:ext cx="321600" cy="312300"/>
          </a:xfrm>
          <a:prstGeom prst="donut">
            <a:avLst>
              <a:gd fmla="val 110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Applying Procrustes</a:t>
            </a:r>
            <a:endParaRPr/>
          </a:p>
        </p:txBody>
      </p:sp>
      <p:sp>
        <p:nvSpPr>
          <p:cNvPr id="968" name="Google Shape;968;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969" name="Google Shape;969;p61"/>
          <p:cNvPicPr preferRelativeResize="0"/>
          <p:nvPr/>
        </p:nvPicPr>
        <p:blipFill>
          <a:blip r:embed="rId3">
            <a:alphaModFix/>
          </a:blip>
          <a:stretch>
            <a:fillRect/>
          </a:stretch>
        </p:blipFill>
        <p:spPr>
          <a:xfrm>
            <a:off x="2423700" y="1017725"/>
            <a:ext cx="3812320" cy="3894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62"/>
          <p:cNvSpPr txBox="1"/>
          <p:nvPr>
            <p:ph type="title"/>
          </p:nvPr>
        </p:nvSpPr>
        <p:spPr>
          <a:xfrm>
            <a:off x="475625" y="210300"/>
            <a:ext cx="3217200" cy="148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3D Takeaways</a:t>
            </a:r>
            <a:endParaRPr/>
          </a:p>
        </p:txBody>
      </p:sp>
      <p:sp>
        <p:nvSpPr>
          <p:cNvPr id="975" name="Google Shape;975;p62"/>
          <p:cNvSpPr txBox="1"/>
          <p:nvPr>
            <p:ph idx="1" type="subTitle"/>
          </p:nvPr>
        </p:nvSpPr>
        <p:spPr>
          <a:xfrm>
            <a:off x="4426500" y="1850250"/>
            <a:ext cx="4409700" cy="5427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Can roughly tell its a sphere</a:t>
            </a:r>
            <a:endParaRPr/>
          </a:p>
        </p:txBody>
      </p:sp>
      <p:sp>
        <p:nvSpPr>
          <p:cNvPr id="976" name="Google Shape;976;p62"/>
          <p:cNvSpPr txBox="1"/>
          <p:nvPr>
            <p:ph idx="2" type="subTitle"/>
          </p:nvPr>
        </p:nvSpPr>
        <p:spPr>
          <a:xfrm>
            <a:off x="4426500" y="2608205"/>
            <a:ext cx="4409700" cy="5427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Procrustes still works</a:t>
            </a:r>
            <a:endParaRPr/>
          </a:p>
        </p:txBody>
      </p:sp>
      <p:sp>
        <p:nvSpPr>
          <p:cNvPr id="977" name="Google Shape;977;p62"/>
          <p:cNvSpPr txBox="1"/>
          <p:nvPr>
            <p:ph idx="4" type="subTitle"/>
          </p:nvPr>
        </p:nvSpPr>
        <p:spPr>
          <a:xfrm>
            <a:off x="4426500" y="3366160"/>
            <a:ext cx="4409700" cy="5427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a:t>Some degree of distortion is unavoidable</a:t>
            </a:r>
            <a:endParaRPr/>
          </a:p>
        </p:txBody>
      </p:sp>
      <p:pic>
        <p:nvPicPr>
          <p:cNvPr id="978" name="Google Shape;978;p62"/>
          <p:cNvPicPr preferRelativeResize="0"/>
          <p:nvPr/>
        </p:nvPicPr>
        <p:blipFill rotWithShape="1">
          <a:blip r:embed="rId3">
            <a:alphaModFix/>
          </a:blip>
          <a:srcRect b="0" l="0" r="0" t="11995"/>
          <a:stretch/>
        </p:blipFill>
        <p:spPr>
          <a:xfrm>
            <a:off x="570850" y="1850262"/>
            <a:ext cx="3309250" cy="2975075"/>
          </a:xfrm>
          <a:prstGeom prst="rect">
            <a:avLst/>
          </a:prstGeom>
          <a:noFill/>
          <a:ln>
            <a:noFill/>
          </a:ln>
        </p:spPr>
      </p:pic>
      <p:sp>
        <p:nvSpPr>
          <p:cNvPr id="979" name="Google Shape;979;p62"/>
          <p:cNvSpPr/>
          <p:nvPr/>
        </p:nvSpPr>
        <p:spPr>
          <a:xfrm>
            <a:off x="8593750" y="132775"/>
            <a:ext cx="321600" cy="312300"/>
          </a:xfrm>
          <a:prstGeom prst="donut">
            <a:avLst>
              <a:gd fmla="val 110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63"/>
          <p:cNvSpPr txBox="1"/>
          <p:nvPr>
            <p:ph type="title"/>
          </p:nvPr>
        </p:nvSpPr>
        <p:spPr>
          <a:xfrm>
            <a:off x="3455400" y="619525"/>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2D Map </a:t>
            </a:r>
            <a:endParaRPr/>
          </a:p>
        </p:txBody>
      </p:sp>
      <p:sp>
        <p:nvSpPr>
          <p:cNvPr id="985" name="Google Shape;985;p6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86" name="Google Shape;986;p63"/>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p>
            <a:pPr indent="0" lvl="0" marL="0" rtl="0" algn="l">
              <a:spcBef>
                <a:spcPts val="0"/>
              </a:spcBef>
              <a:spcAft>
                <a:spcPts val="1000"/>
              </a:spcAft>
              <a:buNone/>
            </a:pPr>
            <a:r>
              <a:t/>
            </a:r>
            <a:endParaRPr/>
          </a:p>
        </p:txBody>
      </p:sp>
      <p:sp>
        <p:nvSpPr>
          <p:cNvPr id="987" name="Google Shape;987;p6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88" name="Google Shape;988;p63"/>
          <p:cNvPicPr preferRelativeResize="0"/>
          <p:nvPr/>
        </p:nvPicPr>
        <p:blipFill>
          <a:blip r:embed="rId3">
            <a:alphaModFix/>
          </a:blip>
          <a:stretch>
            <a:fillRect/>
          </a:stretch>
        </p:blipFill>
        <p:spPr>
          <a:xfrm>
            <a:off x="2329801" y="1268263"/>
            <a:ext cx="4655300" cy="2606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64"/>
          <p:cNvSpPr txBox="1"/>
          <p:nvPr>
            <p:ph type="title"/>
          </p:nvPr>
        </p:nvSpPr>
        <p:spPr>
          <a:xfrm>
            <a:off x="115025" y="22860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 for 2D MDS on flat Euclidean distances</a:t>
            </a:r>
            <a:endParaRPr/>
          </a:p>
        </p:txBody>
      </p:sp>
      <p:sp>
        <p:nvSpPr>
          <p:cNvPr id="994" name="Google Shape;994;p6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t/>
            </a:r>
            <a:endParaRPr/>
          </a:p>
        </p:txBody>
      </p:sp>
      <p:sp>
        <p:nvSpPr>
          <p:cNvPr id="995" name="Google Shape;995;p64"/>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p>
            <a:pPr indent="0" lvl="0" marL="0" rtl="0" algn="l">
              <a:spcBef>
                <a:spcPts val="0"/>
              </a:spcBef>
              <a:spcAft>
                <a:spcPts val="1000"/>
              </a:spcAft>
              <a:buNone/>
            </a:pPr>
            <a:r>
              <a:rPr lang="en"/>
              <a:t>Very similar up to a reflection</a:t>
            </a:r>
            <a:endParaRPr/>
          </a:p>
        </p:txBody>
      </p:sp>
      <p:sp>
        <p:nvSpPr>
          <p:cNvPr id="996" name="Google Shape;996;p6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97" name="Google Shape;997;p64"/>
          <p:cNvPicPr preferRelativeResize="0"/>
          <p:nvPr/>
        </p:nvPicPr>
        <p:blipFill>
          <a:blip r:embed="rId3">
            <a:alphaModFix/>
          </a:blip>
          <a:stretch>
            <a:fillRect/>
          </a:stretch>
        </p:blipFill>
        <p:spPr>
          <a:xfrm>
            <a:off x="2250701" y="1567325"/>
            <a:ext cx="4633839" cy="33449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Problem: Curvature in 2D</a:t>
            </a:r>
            <a:endParaRPr/>
          </a:p>
        </p:txBody>
      </p:sp>
      <p:sp>
        <p:nvSpPr>
          <p:cNvPr id="1003" name="Google Shape;1003;p65"/>
          <p:cNvSpPr txBox="1"/>
          <p:nvPr>
            <p:ph idx="1" type="body"/>
          </p:nvPr>
        </p:nvSpPr>
        <p:spPr>
          <a:xfrm>
            <a:off x="311700" y="1017725"/>
            <a:ext cx="5314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time we ran 2D MDS on these new distances and compared them  to the same 2D ground truth coordinates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Visually, we can tell this is also a poor recreation</a:t>
            </a:r>
            <a:endParaRPr/>
          </a:p>
        </p:txBody>
      </p:sp>
      <p:pic>
        <p:nvPicPr>
          <p:cNvPr id="1004" name="Google Shape;1004;p65"/>
          <p:cNvPicPr preferRelativeResize="0"/>
          <p:nvPr/>
        </p:nvPicPr>
        <p:blipFill>
          <a:blip r:embed="rId3">
            <a:alphaModFix/>
          </a:blip>
          <a:stretch>
            <a:fillRect/>
          </a:stretch>
        </p:blipFill>
        <p:spPr>
          <a:xfrm>
            <a:off x="6080700" y="1598525"/>
            <a:ext cx="2506650" cy="2524300"/>
          </a:xfrm>
          <a:prstGeom prst="rect">
            <a:avLst/>
          </a:prstGeom>
          <a:noFill/>
          <a:ln>
            <a:noFill/>
          </a:ln>
        </p:spPr>
      </p:pic>
      <p:pic>
        <p:nvPicPr>
          <p:cNvPr id="1005" name="Google Shape;1005;p65"/>
          <p:cNvPicPr preferRelativeResize="0"/>
          <p:nvPr/>
        </p:nvPicPr>
        <p:blipFill>
          <a:blip r:embed="rId4">
            <a:alphaModFix/>
          </a:blip>
          <a:stretch>
            <a:fillRect/>
          </a:stretch>
        </p:blipFill>
        <p:spPr>
          <a:xfrm>
            <a:off x="1364250" y="2018175"/>
            <a:ext cx="3398106" cy="2894150"/>
          </a:xfrm>
          <a:prstGeom prst="rect">
            <a:avLst/>
          </a:prstGeom>
          <a:noFill/>
          <a:ln>
            <a:noFill/>
          </a:ln>
        </p:spPr>
      </p:pic>
      <p:sp>
        <p:nvSpPr>
          <p:cNvPr id="1006" name="Google Shape;1006;p65"/>
          <p:cNvSpPr/>
          <p:nvPr/>
        </p:nvSpPr>
        <p:spPr>
          <a:xfrm>
            <a:off x="8593750" y="132775"/>
            <a:ext cx="321600" cy="312300"/>
          </a:xfrm>
          <a:prstGeom prst="donut">
            <a:avLst>
              <a:gd fmla="val 110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66"/>
          <p:cNvSpPr txBox="1"/>
          <p:nvPr>
            <p:ph type="title"/>
          </p:nvPr>
        </p:nvSpPr>
        <p:spPr>
          <a:xfrm>
            <a:off x="228600" y="170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Isolating continents we can see similarly,</a:t>
            </a:r>
            <a:endParaRPr/>
          </a:p>
        </p:txBody>
      </p:sp>
      <p:sp>
        <p:nvSpPr>
          <p:cNvPr id="1012" name="Google Shape;1012;p6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013" name="Google Shape;1013;p66"/>
          <p:cNvPicPr preferRelativeResize="0"/>
          <p:nvPr/>
        </p:nvPicPr>
        <p:blipFill>
          <a:blip r:embed="rId3">
            <a:alphaModFix/>
          </a:blip>
          <a:stretch>
            <a:fillRect/>
          </a:stretch>
        </p:blipFill>
        <p:spPr>
          <a:xfrm>
            <a:off x="2284888" y="1106875"/>
            <a:ext cx="4574225" cy="3805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of 2D MDS on Geodesic Distances</a:t>
            </a:r>
            <a:endParaRPr/>
          </a:p>
        </p:txBody>
      </p:sp>
      <p:sp>
        <p:nvSpPr>
          <p:cNvPr id="1019" name="Google Shape;1019;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020" name="Google Shape;1020;p67"/>
          <p:cNvPicPr preferRelativeResize="0"/>
          <p:nvPr/>
        </p:nvPicPr>
        <p:blipFill>
          <a:blip r:embed="rId3">
            <a:alphaModFix/>
          </a:blip>
          <a:stretch>
            <a:fillRect/>
          </a:stretch>
        </p:blipFill>
        <p:spPr>
          <a:xfrm>
            <a:off x="1981648" y="1017725"/>
            <a:ext cx="5721699" cy="1894325"/>
          </a:xfrm>
          <a:prstGeom prst="rect">
            <a:avLst/>
          </a:prstGeom>
          <a:noFill/>
          <a:ln>
            <a:noFill/>
          </a:ln>
        </p:spPr>
      </p:pic>
      <p:pic>
        <p:nvPicPr>
          <p:cNvPr id="1021" name="Google Shape;1021;p67"/>
          <p:cNvPicPr preferRelativeResize="0"/>
          <p:nvPr/>
        </p:nvPicPr>
        <p:blipFill>
          <a:blip r:embed="rId4">
            <a:alphaModFix/>
          </a:blip>
          <a:stretch>
            <a:fillRect/>
          </a:stretch>
        </p:blipFill>
        <p:spPr>
          <a:xfrm>
            <a:off x="1981650" y="2912050"/>
            <a:ext cx="5721699" cy="1915002"/>
          </a:xfrm>
          <a:prstGeom prst="rect">
            <a:avLst/>
          </a:prstGeom>
          <a:noFill/>
          <a:ln>
            <a:noFill/>
          </a:ln>
        </p:spPr>
      </p:pic>
      <p:sp>
        <p:nvSpPr>
          <p:cNvPr id="1022" name="Google Shape;1022;p67"/>
          <p:cNvSpPr/>
          <p:nvPr/>
        </p:nvSpPr>
        <p:spPr>
          <a:xfrm>
            <a:off x="5521250" y="1126875"/>
            <a:ext cx="1851900" cy="89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023" name="Google Shape;1023;p67"/>
          <p:cNvSpPr/>
          <p:nvPr/>
        </p:nvSpPr>
        <p:spPr>
          <a:xfrm>
            <a:off x="5462775" y="3074400"/>
            <a:ext cx="1851900" cy="89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024" name="Google Shape;1024;p67"/>
          <p:cNvSpPr/>
          <p:nvPr/>
        </p:nvSpPr>
        <p:spPr>
          <a:xfrm>
            <a:off x="5462775" y="3053420"/>
            <a:ext cx="1851900" cy="89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1025" name="Google Shape;1025;p67"/>
          <p:cNvSpPr/>
          <p:nvPr/>
        </p:nvSpPr>
        <p:spPr>
          <a:xfrm>
            <a:off x="8593750" y="132775"/>
            <a:ext cx="321600" cy="312300"/>
          </a:xfrm>
          <a:prstGeom prst="donut">
            <a:avLst>
              <a:gd fmla="val 110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Applying Procrustes</a:t>
            </a:r>
            <a:endParaRPr/>
          </a:p>
        </p:txBody>
      </p:sp>
      <p:sp>
        <p:nvSpPr>
          <p:cNvPr id="1031" name="Google Shape;1031;p6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Each </a:t>
            </a:r>
            <a:r>
              <a:rPr lang="en" sz="1400"/>
              <a:t>continent</a:t>
            </a:r>
            <a:r>
              <a:rPr lang="en" sz="1400"/>
              <a:t> is </a:t>
            </a:r>
            <a:r>
              <a:rPr lang="en" sz="1400"/>
              <a:t>aligned</a:t>
            </a:r>
            <a:r>
              <a:rPr lang="en" sz="1400"/>
              <a:t> </a:t>
            </a:r>
            <a:r>
              <a:rPr lang="en" sz="1400"/>
              <a:t>to</a:t>
            </a:r>
            <a:r>
              <a:rPr lang="en" sz="1400"/>
              <a:t> its own coordinates -&gt; placed in roughly correct </a:t>
            </a:r>
            <a:r>
              <a:rPr lang="en" sz="1400"/>
              <a:t>positions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Each continent’s 2D MDS was independent -&gt; causes projection distortion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P</a:t>
            </a:r>
            <a:r>
              <a:rPr lang="en" sz="1400"/>
              <a:t>rojection</a:t>
            </a:r>
            <a:r>
              <a:rPr lang="en" sz="1400"/>
              <a:t> distortion results in small rotational </a:t>
            </a:r>
            <a:endParaRPr sz="1400"/>
          </a:p>
          <a:p>
            <a:pPr indent="0" lvl="0" marL="0" rtl="0" algn="l">
              <a:spcBef>
                <a:spcPts val="0"/>
              </a:spcBef>
              <a:spcAft>
                <a:spcPts val="0"/>
              </a:spcAft>
              <a:buNone/>
            </a:pPr>
            <a:r>
              <a:rPr lang="en" sz="1400"/>
              <a:t>mismatches that procrustes cannot fix globally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a:p>
        </p:txBody>
      </p:sp>
      <p:pic>
        <p:nvPicPr>
          <p:cNvPr id="1032" name="Google Shape;1032;p68"/>
          <p:cNvPicPr preferRelativeResize="0"/>
          <p:nvPr/>
        </p:nvPicPr>
        <p:blipFill rotWithShape="1">
          <a:blip r:embed="rId3">
            <a:alphaModFix/>
          </a:blip>
          <a:srcRect b="0" l="0" r="5024" t="0"/>
          <a:stretch/>
        </p:blipFill>
        <p:spPr>
          <a:xfrm>
            <a:off x="4724223" y="1895400"/>
            <a:ext cx="4419776" cy="3248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Constructions: 3D and 2D Maps</a:t>
            </a:r>
            <a:endParaRPr/>
          </a:p>
        </p:txBody>
      </p:sp>
      <p:sp>
        <p:nvSpPr>
          <p:cNvPr id="1038" name="Google Shape;1038;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039" name="Google Shape;1039;p69"/>
          <p:cNvPicPr preferRelativeResize="0"/>
          <p:nvPr/>
        </p:nvPicPr>
        <p:blipFill>
          <a:blip r:embed="rId3">
            <a:alphaModFix/>
          </a:blip>
          <a:stretch>
            <a:fillRect/>
          </a:stretch>
        </p:blipFill>
        <p:spPr>
          <a:xfrm>
            <a:off x="4854650" y="1741499"/>
            <a:ext cx="3708501" cy="2588350"/>
          </a:xfrm>
          <a:prstGeom prst="rect">
            <a:avLst/>
          </a:prstGeom>
          <a:noFill/>
          <a:ln>
            <a:noFill/>
          </a:ln>
        </p:spPr>
      </p:pic>
      <p:pic>
        <p:nvPicPr>
          <p:cNvPr id="1040" name="Google Shape;1040;p69"/>
          <p:cNvPicPr preferRelativeResize="0"/>
          <p:nvPr/>
        </p:nvPicPr>
        <p:blipFill rotWithShape="1">
          <a:blip r:embed="rId4">
            <a:alphaModFix/>
          </a:blip>
          <a:srcRect b="0" l="0" r="0" t="11995"/>
          <a:stretch/>
        </p:blipFill>
        <p:spPr>
          <a:xfrm>
            <a:off x="675175" y="1373150"/>
            <a:ext cx="3309250" cy="2975075"/>
          </a:xfrm>
          <a:prstGeom prst="rect">
            <a:avLst/>
          </a:prstGeom>
          <a:noFill/>
          <a:ln>
            <a:noFill/>
          </a:ln>
        </p:spPr>
      </p:pic>
      <p:sp>
        <p:nvSpPr>
          <p:cNvPr id="1041" name="Google Shape;1041;p69"/>
          <p:cNvSpPr/>
          <p:nvPr/>
        </p:nvSpPr>
        <p:spPr>
          <a:xfrm>
            <a:off x="8593750" y="132775"/>
            <a:ext cx="321600" cy="312300"/>
          </a:xfrm>
          <a:prstGeom prst="donut">
            <a:avLst>
              <a:gd fmla="val 110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Diagnosing Failures</a:t>
            </a:r>
            <a:endParaRPr/>
          </a:p>
        </p:txBody>
      </p:sp>
      <p:sp>
        <p:nvSpPr>
          <p:cNvPr id="1047" name="Google Shape;1047;p70"/>
          <p:cNvSpPr txBox="1"/>
          <p:nvPr>
            <p:ph idx="1" type="body"/>
          </p:nvPr>
        </p:nvSpPr>
        <p:spPr>
          <a:xfrm>
            <a:off x="311700" y="1066750"/>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MDS assumes distances come from a euclidean inner product</a:t>
            </a:r>
            <a:endParaRPr sz="1400"/>
          </a:p>
          <a:p>
            <a:pPr indent="-317500" lvl="0" marL="457200" rtl="0" algn="l">
              <a:spcBef>
                <a:spcPts val="0"/>
              </a:spcBef>
              <a:spcAft>
                <a:spcPts val="0"/>
              </a:spcAft>
              <a:buSzPts val="1400"/>
              <a:buChar char="●"/>
            </a:pPr>
            <a:r>
              <a:rPr lang="en" sz="1400"/>
              <a:t>But geodesic distances are not the square of a euclidean distance so it scales differently</a:t>
            </a:r>
            <a:endParaRPr sz="1400"/>
          </a:p>
          <a:p>
            <a:pPr indent="-317500" lvl="0" marL="457200" rtl="0" algn="l">
              <a:spcBef>
                <a:spcPts val="0"/>
              </a:spcBef>
              <a:spcAft>
                <a:spcPts val="0"/>
              </a:spcAft>
              <a:buSzPts val="1400"/>
              <a:buChar char="●"/>
            </a:pPr>
            <a:r>
              <a:rPr lang="en" sz="1400"/>
              <a:t>There is a nonlinear relationship between geodesic distances and euclidean distance</a:t>
            </a:r>
            <a:endParaRPr sz="1400"/>
          </a:p>
          <a:p>
            <a:pPr indent="-317500" lvl="1" marL="914400" rtl="0" algn="l">
              <a:spcBef>
                <a:spcPts val="0"/>
              </a:spcBef>
              <a:spcAft>
                <a:spcPts val="0"/>
              </a:spcAft>
              <a:buSzPts val="1400"/>
              <a:buChar char="○"/>
            </a:pPr>
            <a:r>
              <a:rPr lang="en" sz="1400"/>
              <a:t>Cannot be </a:t>
            </a:r>
            <a:r>
              <a:rPr lang="en" sz="1400"/>
              <a:t>realized</a:t>
            </a:r>
            <a:r>
              <a:rPr lang="en" sz="1400"/>
              <a:t> as || x_i - x_j|| in R3</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This causes the Gram matrix to lose the PSD property</a:t>
            </a:r>
            <a:endParaRPr sz="1400"/>
          </a:p>
          <a:p>
            <a:pPr indent="-317500" lvl="1" marL="914400" rtl="0" algn="l">
              <a:spcBef>
                <a:spcPts val="0"/>
              </a:spcBef>
              <a:spcAft>
                <a:spcPts val="0"/>
              </a:spcAft>
              <a:buSzPts val="1400"/>
              <a:buChar char="○"/>
            </a:pPr>
            <a:r>
              <a:rPr lang="en" sz="1400"/>
              <a:t>Negative eigenvalue appearing -&gt; no euclidean embedding exists in R3</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It's</a:t>
            </a:r>
            <a:r>
              <a:rPr lang="en" sz="1400"/>
              <a:t> not a numerical failure but a geometric space incompatibility</a:t>
            </a:r>
            <a:endParaRPr sz="1400"/>
          </a:p>
          <a:p>
            <a:pPr indent="-317500" lvl="1" marL="914400" rtl="0" algn="l">
              <a:spcBef>
                <a:spcPts val="0"/>
              </a:spcBef>
              <a:spcAft>
                <a:spcPts val="0"/>
              </a:spcAft>
              <a:buSzPts val="1400"/>
              <a:buChar char="○"/>
            </a:pPr>
            <a:r>
              <a:rPr lang="en" sz="1400"/>
              <a:t>MDS is built for perfect euclidean reconstruction</a:t>
            </a:r>
            <a:endParaRPr sz="14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p:txBody>
      </p:sp>
      <p:pic>
        <p:nvPicPr>
          <p:cNvPr id="1048" name="Google Shape;1048;p70"/>
          <p:cNvPicPr preferRelativeResize="0"/>
          <p:nvPr/>
        </p:nvPicPr>
        <p:blipFill rotWithShape="1">
          <a:blip r:embed="rId3">
            <a:alphaModFix/>
          </a:blip>
          <a:srcRect b="0" l="0" r="0" t="56254"/>
          <a:stretch/>
        </p:blipFill>
        <p:spPr>
          <a:xfrm>
            <a:off x="309563" y="4044893"/>
            <a:ext cx="8524875" cy="520850"/>
          </a:xfrm>
          <a:prstGeom prst="rect">
            <a:avLst/>
          </a:prstGeom>
          <a:noFill/>
          <a:ln>
            <a:noFill/>
          </a:ln>
        </p:spPr>
      </p:pic>
      <p:sp>
        <p:nvSpPr>
          <p:cNvPr id="1049" name="Google Shape;1049;p70"/>
          <p:cNvSpPr/>
          <p:nvPr/>
        </p:nvSpPr>
        <p:spPr>
          <a:xfrm>
            <a:off x="8593750" y="132775"/>
            <a:ext cx="321600" cy="312300"/>
          </a:xfrm>
          <a:prstGeom prst="donut">
            <a:avLst>
              <a:gd fmla="val 1100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1055" name="Google Shape;1055;p7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rgbClr val="000000"/>
                </a:solidFill>
                <a:latin typeface="Arial"/>
                <a:ea typeface="Arial"/>
                <a:cs typeface="Arial"/>
                <a:sym typeface="Arial"/>
              </a:rPr>
              <a:t>Using only distances between major cities, MDS can reconstruct a convincing 3D model of the Earth when distances are Euclidean chord distances.</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400">
                <a:solidFill>
                  <a:srgbClr val="000000"/>
                </a:solidFill>
                <a:latin typeface="Arial"/>
                <a:ea typeface="Arial"/>
                <a:cs typeface="Arial"/>
                <a:sym typeface="Arial"/>
              </a:rPr>
              <a:t>With realistic geodesic distances, MDS runs into issues caused by the </a:t>
            </a:r>
            <a:r>
              <a:rPr lang="en" sz="1400">
                <a:solidFill>
                  <a:srgbClr val="000000"/>
                </a:solidFill>
                <a:latin typeface="Arial"/>
                <a:ea typeface="Arial"/>
                <a:cs typeface="Arial"/>
                <a:sym typeface="Arial"/>
              </a:rPr>
              <a:t>earth's</a:t>
            </a:r>
            <a:r>
              <a:rPr lang="en" sz="1400">
                <a:solidFill>
                  <a:srgbClr val="000000"/>
                </a:solidFill>
                <a:latin typeface="Arial"/>
                <a:ea typeface="Arial"/>
                <a:cs typeface="Arial"/>
                <a:sym typeface="Arial"/>
              </a:rPr>
              <a:t> curvature: even 3D embeddings can’t be exact, and 2D global maps distort heavily.</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sz="1500"/>
          </a:p>
          <a:p>
            <a:pPr indent="0" lvl="0" marL="0" rtl="0" algn="l">
              <a:lnSpc>
                <a:spcPct val="115000"/>
              </a:lnSpc>
              <a:spcBef>
                <a:spcPts val="0"/>
              </a:spcBef>
              <a:spcAft>
                <a:spcPts val="0"/>
              </a:spcAft>
              <a:buNone/>
            </a:pPr>
            <a:r>
              <a:rPr lang="en" sz="1400">
                <a:solidFill>
                  <a:srgbClr val="000000"/>
                </a:solidFill>
                <a:latin typeface="Arial"/>
                <a:ea typeface="Arial"/>
                <a:cs typeface="Arial"/>
                <a:sym typeface="Arial"/>
              </a:rPr>
              <a:t>By working continent by continent and using procrustes to align and stitch, we get a good flat map constructed purely from distance data.</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400">
                <a:solidFill>
                  <a:srgbClr val="000000"/>
                </a:solidFill>
                <a:latin typeface="Arial"/>
                <a:ea typeface="Arial"/>
                <a:cs typeface="Arial"/>
                <a:sym typeface="Arial"/>
              </a:rPr>
              <a:t>Surprisingly, even without using euclidean coordinates, some of our MDS reconstructions were much better than expected, yielding results that actually resembled the globe and 2d maps we are used to.</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400">
                <a:solidFill>
                  <a:srgbClr val="000000"/>
                </a:solidFill>
                <a:latin typeface="Arial"/>
                <a:ea typeface="Arial"/>
                <a:cs typeface="Arial"/>
                <a:sym typeface="Arial"/>
              </a:rPr>
              <a:t>More data -&gt; by country instead of by continent possibly leading to even better reconstruction </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100">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72"/>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Thank you</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73"/>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Any questions? </a:t>
            </a:r>
            <a:endParaRPr/>
          </a:p>
          <a:p>
            <a:pPr indent="0" lvl="0" marL="0" rtl="0" algn="l">
              <a:spcBef>
                <a:spcPts val="0"/>
              </a:spcBef>
              <a:spcAft>
                <a:spcPts val="0"/>
              </a:spcAft>
              <a:buNone/>
            </a:pPr>
            <a:r>
              <a:rPr lang="en"/>
              <a:t>Ask away!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